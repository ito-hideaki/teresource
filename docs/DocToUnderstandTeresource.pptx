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8" r:id="rId6"/>
    <p:sldId id="269" r:id="rId7"/>
    <p:sldId id="276" r:id="rId8"/>
    <p:sldId id="260" r:id="rId9"/>
    <p:sldId id="263" r:id="rId10"/>
    <p:sldId id="262" r:id="rId11"/>
    <p:sldId id="264" r:id="rId12"/>
    <p:sldId id="265" r:id="rId13"/>
    <p:sldId id="266" r:id="rId14"/>
    <p:sldId id="267" r:id="rId15"/>
    <p:sldId id="270" r:id="rId16"/>
    <p:sldId id="271" r:id="rId17"/>
    <p:sldId id="272" r:id="rId18"/>
    <p:sldId id="278" r:id="rId19"/>
    <p:sldId id="273" r:id="rId20"/>
    <p:sldId id="274" r:id="rId21"/>
    <p:sldId id="275" r:id="rId22"/>
    <p:sldId id="277" r:id="rId23"/>
    <p:sldId id="279" r:id="rId24"/>
    <p:sldId id="280" r:id="rId25"/>
    <p:sldId id="282" r:id="rId26"/>
    <p:sldId id="281" r:id="rId27"/>
    <p:sldId id="283" r:id="rId28"/>
    <p:sldId id="287" r:id="rId29"/>
    <p:sldId id="261" r:id="rId30"/>
    <p:sldId id="284" r:id="rId31"/>
    <p:sldId id="285" r:id="rId32"/>
    <p:sldId id="286" r:id="rId33"/>
    <p:sldId id="288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94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5412DC-F5B3-480A-B27E-300E38828415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MY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DC2934-A8AA-4CDB-B94F-A389360CDAED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9189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C2934-A8AA-4CDB-B94F-A389360CDAED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22060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C2934-A8AA-4CDB-B94F-A389360CDAED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537231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C2934-A8AA-4CDB-B94F-A389360CDAED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90740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09CE8-CE8F-C257-B908-4F4427153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9C1A5D7-EA1A-D9C2-4C4C-96981EEBDF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140D091-EA97-BD1C-CE66-2EC2A7F17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0FC984B-9295-352A-5B9F-D6C3D22C06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C2934-A8AA-4CDB-B94F-A389360CDAED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941807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022E6-8974-DCD2-F249-CFB11FFEA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65D1296-45E4-138A-F8ED-C7AA1C3F63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1DE9ABD-E7B7-F2AC-8DA9-2216F29F2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C2E6F7B-994A-F4A0-974C-F0CA449619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C2934-A8AA-4CDB-B94F-A389360CDAED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30224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1A296-5D1C-4195-9E75-71CD5C074DD6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42C-A3F3-480F-952A-DE54437FD42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86534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1A296-5D1C-4195-9E75-71CD5C074DD6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42C-A3F3-480F-952A-DE54437FD42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2183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1A296-5D1C-4195-9E75-71CD5C074DD6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42C-A3F3-480F-952A-DE54437FD42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26791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1A296-5D1C-4195-9E75-71CD5C074DD6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42C-A3F3-480F-952A-DE54437FD42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72860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1A296-5D1C-4195-9E75-71CD5C074DD6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42C-A3F3-480F-952A-DE54437FD42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83327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1A296-5D1C-4195-9E75-71CD5C074DD6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42C-A3F3-480F-952A-DE54437FD42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51985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1A296-5D1C-4195-9E75-71CD5C074DD6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42C-A3F3-480F-952A-DE54437FD42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70013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1A296-5D1C-4195-9E75-71CD5C074DD6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42C-A3F3-480F-952A-DE54437FD42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128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1A296-5D1C-4195-9E75-71CD5C074DD6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42C-A3F3-480F-952A-DE54437FD42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81878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1A296-5D1C-4195-9E75-71CD5C074DD6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42C-A3F3-480F-952A-DE54437FD42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91061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1A296-5D1C-4195-9E75-71CD5C074DD6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42C-A3F3-480F-952A-DE54437FD42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98132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8B1A296-5D1C-4195-9E75-71CD5C074DD6}" type="datetimeFigureOut">
              <a:rPr lang="en-MY" smtClean="0"/>
              <a:t>2/1/2026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9E61F42C-A3F3-480F-952A-DE54437FD42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400841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965E77-F2A8-132D-FF8F-580C46309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 err="1"/>
              <a:t>Teresource</a:t>
            </a:r>
            <a:r>
              <a:rPr lang="ja-JP" altLang="en-US" dirty="0"/>
              <a:t>を理解する</a:t>
            </a:r>
            <a:r>
              <a:rPr lang="en-MY" altLang="ja-JP" dirty="0"/>
              <a:t>Doc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4612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1C2C72-A19F-4089-65A2-BF80CB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テリソスが依存するライブラリ</a:t>
            </a:r>
            <a:endParaRPr lang="en-MY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72128F-9C7A-E196-E8FF-ABBA29E9AC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ja-JP" dirty="0"/>
              <a:t>Phaser.js </a:t>
            </a:r>
            <a:r>
              <a:rPr lang="ja-JP" altLang="en-US" dirty="0"/>
              <a:t>ゲーム担当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4119957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4F3432-4F5A-4521-3D9C-FE165D3FC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テリソス全体図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A75AAA-B9D7-BE0E-EC6D-2B1E27BEB886}"/>
              </a:ext>
            </a:extLst>
          </p:cNvPr>
          <p:cNvSpPr/>
          <p:nvPr/>
        </p:nvSpPr>
        <p:spPr>
          <a:xfrm>
            <a:off x="3773054" y="1753468"/>
            <a:ext cx="4017817" cy="8954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teresource.js</a:t>
            </a:r>
          </a:p>
          <a:p>
            <a:pPr algn="ctr"/>
            <a:r>
              <a:rPr lang="ja-JP" altLang="en-US" dirty="0"/>
              <a:t>ゲームの初期化</a:t>
            </a:r>
            <a:endParaRPr lang="en-MY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8CD528F-4D86-A5C2-B59A-60DDB976167D}"/>
              </a:ext>
            </a:extLst>
          </p:cNvPr>
          <p:cNvSpPr/>
          <p:nvPr/>
        </p:nvSpPr>
        <p:spPr>
          <a:xfrm>
            <a:off x="3773053" y="4209040"/>
            <a:ext cx="4017817" cy="8954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play.js </a:t>
            </a:r>
          </a:p>
          <a:p>
            <a:pPr algn="ctr"/>
            <a:r>
              <a:rPr lang="en-MY" dirty="0" err="1"/>
              <a:t>PlayScene</a:t>
            </a:r>
            <a:r>
              <a:rPr lang="ja-JP" altLang="en-US" dirty="0"/>
              <a:t>の初期化</a:t>
            </a:r>
            <a:endParaRPr lang="en-MY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7C843B04-FBCD-13EA-0E3B-098F0DB15471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5781962" y="2648961"/>
            <a:ext cx="1" cy="1560079"/>
          </a:xfrm>
          <a:prstGeom prst="straightConnector1">
            <a:avLst/>
          </a:prstGeom>
          <a:ln w="254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39BEE7B-A5C7-AE13-A645-AB3C8BF9CF63}"/>
              </a:ext>
            </a:extLst>
          </p:cNvPr>
          <p:cNvSpPr txBox="1"/>
          <p:nvPr/>
        </p:nvSpPr>
        <p:spPr>
          <a:xfrm>
            <a:off x="5781961" y="327154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読み込み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35458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92E678-0DB1-073F-82A4-5A0EFB205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/>
              <a:t>PlayScene</a:t>
            </a:r>
            <a:r>
              <a:rPr lang="ja-JP" altLang="en-US" dirty="0"/>
              <a:t>の構造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DA74AEC-8E46-018F-4E38-4F3A360EE3D5}"/>
              </a:ext>
            </a:extLst>
          </p:cNvPr>
          <p:cNvSpPr/>
          <p:nvPr/>
        </p:nvSpPr>
        <p:spPr>
          <a:xfrm>
            <a:off x="5717307" y="654918"/>
            <a:ext cx="4017817" cy="8976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play.js </a:t>
            </a:r>
          </a:p>
          <a:p>
            <a:pPr algn="ctr"/>
            <a:r>
              <a:rPr lang="en-MY" dirty="0" err="1"/>
              <a:t>PlayScene</a:t>
            </a:r>
            <a:r>
              <a:rPr lang="ja-JP" altLang="en-US" dirty="0"/>
              <a:t>の初期化</a:t>
            </a:r>
            <a:endParaRPr lang="en-MY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9D0039D-3BF3-5AA2-3FCB-C1CE3067DBB1}"/>
              </a:ext>
            </a:extLst>
          </p:cNvPr>
          <p:cNvSpPr/>
          <p:nvPr/>
        </p:nvSpPr>
        <p:spPr>
          <a:xfrm>
            <a:off x="1974636" y="5597382"/>
            <a:ext cx="4017817" cy="89549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core</a:t>
            </a:r>
          </a:p>
          <a:p>
            <a:pPr algn="ctr"/>
            <a:r>
              <a:rPr lang="ja-JP" altLang="en-US" dirty="0"/>
              <a:t>ボードやミノなどの基礎の定義</a:t>
            </a:r>
            <a:endParaRPr lang="en-MY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A1BB-4F10-68DB-1BD8-EBD51DC0FC69}"/>
              </a:ext>
            </a:extLst>
          </p:cNvPr>
          <p:cNvSpPr/>
          <p:nvPr/>
        </p:nvSpPr>
        <p:spPr>
          <a:xfrm>
            <a:off x="1560939" y="1907024"/>
            <a:ext cx="3634511" cy="897659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Infra </a:t>
            </a:r>
            <a:r>
              <a:rPr lang="en-MY" dirty="0" err="1"/>
              <a:t>gameFactory.create</a:t>
            </a:r>
            <a:r>
              <a:rPr lang="en-MY" dirty="0"/>
              <a:t>()</a:t>
            </a:r>
          </a:p>
          <a:p>
            <a:pPr algn="ctr"/>
            <a:r>
              <a:rPr lang="ja-JP" altLang="en-US" dirty="0"/>
              <a:t>いちゲームの生成</a:t>
            </a:r>
            <a:endParaRPr lang="en-MY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6202C20-CF26-3695-7683-E333DD805D6B}"/>
              </a:ext>
            </a:extLst>
          </p:cNvPr>
          <p:cNvSpPr/>
          <p:nvPr/>
        </p:nvSpPr>
        <p:spPr>
          <a:xfrm>
            <a:off x="1538520" y="3371558"/>
            <a:ext cx="4017817" cy="89549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/>
              <a:t>control</a:t>
            </a:r>
          </a:p>
          <a:p>
            <a:pPr algn="ctr"/>
            <a:r>
              <a:rPr lang="ja-JP" altLang="en-US" dirty="0"/>
              <a:t>ボードやゲームの制御</a:t>
            </a:r>
            <a:endParaRPr lang="en-MY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F5E5C9E-DCEB-571E-110A-1F9033098FEF}"/>
              </a:ext>
            </a:extLst>
          </p:cNvPr>
          <p:cNvSpPr/>
          <p:nvPr/>
        </p:nvSpPr>
        <p:spPr>
          <a:xfrm>
            <a:off x="6143586" y="2214926"/>
            <a:ext cx="4017817" cy="895493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/>
              <a:t>view control</a:t>
            </a:r>
          </a:p>
          <a:p>
            <a:pPr algn="ctr"/>
            <a:r>
              <a:rPr lang="ja-JP" altLang="en-US" dirty="0"/>
              <a:t>見た目の制御</a:t>
            </a:r>
            <a:endParaRPr lang="en-MY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FAA6240-BC1B-8E26-9DDA-861D7E0B1379}"/>
              </a:ext>
            </a:extLst>
          </p:cNvPr>
          <p:cNvSpPr/>
          <p:nvPr/>
        </p:nvSpPr>
        <p:spPr>
          <a:xfrm>
            <a:off x="6271323" y="5597382"/>
            <a:ext cx="4017817" cy="895493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/>
              <a:t>viewmechanics.js</a:t>
            </a:r>
          </a:p>
          <a:p>
            <a:pPr algn="ctr"/>
            <a:r>
              <a:rPr lang="ja-JP" altLang="en-US" dirty="0"/>
              <a:t>見た目の基礎の定義</a:t>
            </a:r>
            <a:endParaRPr lang="en-MY" dirty="0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C88DD038-7AD7-9EA2-F2B1-883FA7E0F4D0}"/>
              </a:ext>
            </a:extLst>
          </p:cNvPr>
          <p:cNvSpPr/>
          <p:nvPr/>
        </p:nvSpPr>
        <p:spPr>
          <a:xfrm rot="20275471" flipH="1">
            <a:off x="4417465" y="1331537"/>
            <a:ext cx="1800165" cy="6368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生成を依頼</a:t>
            </a:r>
            <a:endParaRPr lang="en-MY" dirty="0"/>
          </a:p>
        </p:txBody>
      </p:sp>
      <p:sp>
        <p:nvSpPr>
          <p:cNvPr id="12" name="矢印: 下 11">
            <a:extLst>
              <a:ext uri="{FF2B5EF4-FFF2-40B4-BE49-F238E27FC236}">
                <a16:creationId xmlns:a16="http://schemas.microsoft.com/office/drawing/2014/main" id="{ABA253BD-4349-468A-BF05-2DC796799BD7}"/>
              </a:ext>
            </a:extLst>
          </p:cNvPr>
          <p:cNvSpPr/>
          <p:nvPr/>
        </p:nvSpPr>
        <p:spPr>
          <a:xfrm>
            <a:off x="4181764" y="2760008"/>
            <a:ext cx="646545" cy="8954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生成</a:t>
            </a:r>
            <a:endParaRPr lang="en-MY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B792A96-8D79-7A7D-18FE-3EBDD59D98AC}"/>
              </a:ext>
            </a:extLst>
          </p:cNvPr>
          <p:cNvSpPr/>
          <p:nvPr/>
        </p:nvSpPr>
        <p:spPr>
          <a:xfrm>
            <a:off x="8645235" y="3747582"/>
            <a:ext cx="2493649" cy="895493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/>
              <a:t>Phaser</a:t>
            </a:r>
            <a:r>
              <a:rPr lang="ja-JP" altLang="en-US" dirty="0"/>
              <a:t>による</a:t>
            </a:r>
            <a:endParaRPr lang="en-MY" altLang="ja-JP" dirty="0"/>
          </a:p>
          <a:p>
            <a:pPr algn="ctr"/>
            <a:r>
              <a:rPr lang="ja-JP" altLang="en-US" dirty="0"/>
              <a:t>見た目の要素</a:t>
            </a:r>
            <a:endParaRPr lang="en-MY" dirty="0"/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6ED47377-16D1-0840-2D5E-76150AF7D1A3}"/>
              </a:ext>
            </a:extLst>
          </p:cNvPr>
          <p:cNvSpPr/>
          <p:nvPr/>
        </p:nvSpPr>
        <p:spPr>
          <a:xfrm>
            <a:off x="4923458" y="2384143"/>
            <a:ext cx="1492121" cy="6368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生成</a:t>
            </a:r>
            <a:endParaRPr lang="en-MY" dirty="0"/>
          </a:p>
        </p:txBody>
      </p:sp>
      <p:sp>
        <p:nvSpPr>
          <p:cNvPr id="17" name="矢印: 下 16">
            <a:extLst>
              <a:ext uri="{FF2B5EF4-FFF2-40B4-BE49-F238E27FC236}">
                <a16:creationId xmlns:a16="http://schemas.microsoft.com/office/drawing/2014/main" id="{A70083A3-68FC-660D-6607-EF7A74AAD765}"/>
              </a:ext>
            </a:extLst>
          </p:cNvPr>
          <p:cNvSpPr/>
          <p:nvPr/>
        </p:nvSpPr>
        <p:spPr>
          <a:xfrm>
            <a:off x="6604078" y="1459277"/>
            <a:ext cx="646545" cy="895493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更新</a:t>
            </a:r>
            <a:endParaRPr lang="en-MY" dirty="0"/>
          </a:p>
        </p:txBody>
      </p:sp>
      <p:sp>
        <p:nvSpPr>
          <p:cNvPr id="18" name="矢印: 下 17">
            <a:extLst>
              <a:ext uri="{FF2B5EF4-FFF2-40B4-BE49-F238E27FC236}">
                <a16:creationId xmlns:a16="http://schemas.microsoft.com/office/drawing/2014/main" id="{AA7B1153-951E-3AB7-D577-E3723BCD2BC3}"/>
              </a:ext>
            </a:extLst>
          </p:cNvPr>
          <p:cNvSpPr/>
          <p:nvPr/>
        </p:nvSpPr>
        <p:spPr>
          <a:xfrm rot="1364163">
            <a:off x="5669181" y="1368636"/>
            <a:ext cx="646545" cy="2350756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更新</a:t>
            </a:r>
            <a:endParaRPr lang="en-MY" dirty="0"/>
          </a:p>
        </p:txBody>
      </p:sp>
      <p:sp>
        <p:nvSpPr>
          <p:cNvPr id="19" name="矢印: 下 18">
            <a:extLst>
              <a:ext uri="{FF2B5EF4-FFF2-40B4-BE49-F238E27FC236}">
                <a16:creationId xmlns:a16="http://schemas.microsoft.com/office/drawing/2014/main" id="{C1641B46-23DF-CA1C-8F79-D75C6346DC1F}"/>
              </a:ext>
            </a:extLst>
          </p:cNvPr>
          <p:cNvSpPr/>
          <p:nvPr/>
        </p:nvSpPr>
        <p:spPr>
          <a:xfrm>
            <a:off x="8904854" y="2989315"/>
            <a:ext cx="646545" cy="895493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更新</a:t>
            </a:r>
            <a:endParaRPr lang="en-MY" dirty="0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F27461D-6EB3-15EE-8F20-396888AD8F6B}"/>
              </a:ext>
            </a:extLst>
          </p:cNvPr>
          <p:cNvSpPr/>
          <p:nvPr/>
        </p:nvSpPr>
        <p:spPr>
          <a:xfrm>
            <a:off x="4591390" y="4541010"/>
            <a:ext cx="1824189" cy="6487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ゲームの状態</a:t>
            </a:r>
            <a:endParaRPr lang="en-MY" dirty="0"/>
          </a:p>
        </p:txBody>
      </p:sp>
      <p:sp>
        <p:nvSpPr>
          <p:cNvPr id="22" name="矢印: 下 21">
            <a:extLst>
              <a:ext uri="{FF2B5EF4-FFF2-40B4-BE49-F238E27FC236}">
                <a16:creationId xmlns:a16="http://schemas.microsoft.com/office/drawing/2014/main" id="{E8C8D8ED-11AC-DDDA-1B09-7ED2FA5A3BE9}"/>
              </a:ext>
            </a:extLst>
          </p:cNvPr>
          <p:cNvSpPr/>
          <p:nvPr/>
        </p:nvSpPr>
        <p:spPr>
          <a:xfrm>
            <a:off x="5070762" y="3872128"/>
            <a:ext cx="646545" cy="895493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更新</a:t>
            </a:r>
            <a:endParaRPr lang="en-MY" dirty="0"/>
          </a:p>
        </p:txBody>
      </p:sp>
      <p:sp>
        <p:nvSpPr>
          <p:cNvPr id="23" name="矢印: 下 22">
            <a:extLst>
              <a:ext uri="{FF2B5EF4-FFF2-40B4-BE49-F238E27FC236}">
                <a16:creationId xmlns:a16="http://schemas.microsoft.com/office/drawing/2014/main" id="{F93D4201-6777-B611-5F8F-392FED0F2D21}"/>
              </a:ext>
            </a:extLst>
          </p:cNvPr>
          <p:cNvSpPr/>
          <p:nvPr/>
        </p:nvSpPr>
        <p:spPr>
          <a:xfrm>
            <a:off x="3317937" y="4226895"/>
            <a:ext cx="646545" cy="1453469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参照</a:t>
            </a:r>
            <a:endParaRPr lang="en-MY" dirty="0"/>
          </a:p>
        </p:txBody>
      </p:sp>
      <p:sp>
        <p:nvSpPr>
          <p:cNvPr id="24" name="矢印: 下 23">
            <a:extLst>
              <a:ext uri="{FF2B5EF4-FFF2-40B4-BE49-F238E27FC236}">
                <a16:creationId xmlns:a16="http://schemas.microsoft.com/office/drawing/2014/main" id="{FAA26649-2414-BAA4-F9CF-46E735159720}"/>
              </a:ext>
            </a:extLst>
          </p:cNvPr>
          <p:cNvSpPr/>
          <p:nvPr/>
        </p:nvSpPr>
        <p:spPr>
          <a:xfrm>
            <a:off x="7785993" y="3021019"/>
            <a:ext cx="646545" cy="2576363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参照</a:t>
            </a:r>
            <a:endParaRPr lang="en-MY" dirty="0"/>
          </a:p>
        </p:txBody>
      </p:sp>
      <p:sp>
        <p:nvSpPr>
          <p:cNvPr id="25" name="矢印: 下 24">
            <a:extLst>
              <a:ext uri="{FF2B5EF4-FFF2-40B4-BE49-F238E27FC236}">
                <a16:creationId xmlns:a16="http://schemas.microsoft.com/office/drawing/2014/main" id="{20D7F7BD-4122-84F4-346C-D822F6FB4729}"/>
              </a:ext>
            </a:extLst>
          </p:cNvPr>
          <p:cNvSpPr/>
          <p:nvPr/>
        </p:nvSpPr>
        <p:spPr>
          <a:xfrm rot="1984628">
            <a:off x="6563788" y="2823594"/>
            <a:ext cx="646545" cy="3178796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参照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44371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4EC651-8DB1-02CC-54D2-355EB9B57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Cell</a:t>
            </a:r>
            <a:r>
              <a:rPr lang="ja-JP" altLang="en-US" dirty="0"/>
              <a:t>と</a:t>
            </a:r>
            <a:r>
              <a:rPr lang="en-MY" altLang="ja-JP" dirty="0" err="1"/>
              <a:t>CellBoard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2790903-BEB6-70BC-ED33-790B9937AC70}"/>
              </a:ext>
            </a:extLst>
          </p:cNvPr>
          <p:cNvSpPr/>
          <p:nvPr/>
        </p:nvSpPr>
        <p:spPr>
          <a:xfrm>
            <a:off x="1014054" y="1988127"/>
            <a:ext cx="2800563" cy="90285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Cell</a:t>
            </a:r>
          </a:p>
          <a:p>
            <a:pPr algn="ctr"/>
            <a:r>
              <a:rPr lang="ja-JP" altLang="en-US" dirty="0"/>
              <a:t>ブロック１つを表す</a:t>
            </a:r>
            <a:endParaRPr lang="en-US" altLang="ja-JP" dirty="0"/>
          </a:p>
        </p:txBody>
      </p: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46395041-67A0-4779-3F6F-89EDB77D4A8A}"/>
              </a:ext>
            </a:extLst>
          </p:cNvPr>
          <p:cNvSpPr/>
          <p:nvPr/>
        </p:nvSpPr>
        <p:spPr>
          <a:xfrm>
            <a:off x="591127" y="3245538"/>
            <a:ext cx="2503055" cy="1234098"/>
          </a:xfrm>
          <a:prstGeom prst="wedgeRoundRectCallout">
            <a:avLst>
              <a:gd name="adj1" fmla="val -16568"/>
              <a:gd name="adj2" fmla="val -70731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/>
              <a:t>・色</a:t>
            </a:r>
            <a:endParaRPr lang="en-MY" altLang="ja-JP" dirty="0"/>
          </a:p>
          <a:p>
            <a:r>
              <a:rPr lang="ja-JP" altLang="en-US" dirty="0"/>
              <a:t>・状態</a:t>
            </a:r>
            <a:endParaRPr lang="en-MY" altLang="ja-JP" dirty="0"/>
          </a:p>
          <a:p>
            <a:r>
              <a:rPr lang="ja-JP" altLang="en-US" dirty="0"/>
              <a:t>・ブロックか否か</a:t>
            </a:r>
            <a:endParaRPr lang="en-MY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3CB7BE-B43A-315A-F9E9-669CE87BC854}"/>
              </a:ext>
            </a:extLst>
          </p:cNvPr>
          <p:cNvSpPr/>
          <p:nvPr/>
        </p:nvSpPr>
        <p:spPr>
          <a:xfrm>
            <a:off x="3528292" y="3593577"/>
            <a:ext cx="1265382" cy="53801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Cell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C2B87D2-46DE-66A7-02BC-E16AC6A8CBF5}"/>
              </a:ext>
            </a:extLst>
          </p:cNvPr>
          <p:cNvSpPr/>
          <p:nvPr/>
        </p:nvSpPr>
        <p:spPr>
          <a:xfrm>
            <a:off x="3528292" y="4220693"/>
            <a:ext cx="1265382" cy="53801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Cell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65D82D3-2F5A-E51E-CE3F-891A0D70CBC9}"/>
              </a:ext>
            </a:extLst>
          </p:cNvPr>
          <p:cNvSpPr/>
          <p:nvPr/>
        </p:nvSpPr>
        <p:spPr>
          <a:xfrm>
            <a:off x="3528292" y="4847809"/>
            <a:ext cx="1265382" cy="53801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Cell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E96ACA3-A3AC-2273-A624-D8320DE9DBBD}"/>
              </a:ext>
            </a:extLst>
          </p:cNvPr>
          <p:cNvSpPr/>
          <p:nvPr/>
        </p:nvSpPr>
        <p:spPr>
          <a:xfrm>
            <a:off x="3528292" y="5474925"/>
            <a:ext cx="1265382" cy="53801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Cell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C2B88CE-265A-9232-AD93-2303EA83E776}"/>
              </a:ext>
            </a:extLst>
          </p:cNvPr>
          <p:cNvCxnSpPr/>
          <p:nvPr/>
        </p:nvCxnSpPr>
        <p:spPr>
          <a:xfrm>
            <a:off x="4077856" y="2442813"/>
            <a:ext cx="2036617" cy="451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FAE01F1-2C35-E496-D9BB-2A9F290624DD}"/>
              </a:ext>
            </a:extLst>
          </p:cNvPr>
          <p:cNvCxnSpPr>
            <a:cxnSpLocks/>
          </p:cNvCxnSpPr>
          <p:nvPr/>
        </p:nvCxnSpPr>
        <p:spPr>
          <a:xfrm flipV="1">
            <a:off x="4904511" y="3245538"/>
            <a:ext cx="1293089" cy="5237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F3D5BD1C-7536-029B-06EC-B10A4C953803}"/>
              </a:ext>
            </a:extLst>
          </p:cNvPr>
          <p:cNvCxnSpPr>
            <a:cxnSpLocks/>
          </p:cNvCxnSpPr>
          <p:nvPr/>
        </p:nvCxnSpPr>
        <p:spPr>
          <a:xfrm flipV="1">
            <a:off x="4904510" y="3429000"/>
            <a:ext cx="1293090" cy="10059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10E1CD3-E397-DEB7-4E37-B2F066601C58}"/>
              </a:ext>
            </a:extLst>
          </p:cNvPr>
          <p:cNvCxnSpPr>
            <a:cxnSpLocks/>
          </p:cNvCxnSpPr>
          <p:nvPr/>
        </p:nvCxnSpPr>
        <p:spPr>
          <a:xfrm flipV="1">
            <a:off x="4821383" y="3593577"/>
            <a:ext cx="1376217" cy="15232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CBA8BB9-AE05-78D2-CA6E-204AD0F4D4A7}"/>
              </a:ext>
            </a:extLst>
          </p:cNvPr>
          <p:cNvCxnSpPr>
            <a:cxnSpLocks/>
          </p:cNvCxnSpPr>
          <p:nvPr/>
        </p:nvCxnSpPr>
        <p:spPr>
          <a:xfrm flipV="1">
            <a:off x="4862946" y="3769265"/>
            <a:ext cx="1334654" cy="19620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F515F15-7644-8D33-4424-855A64FDDFD9}"/>
              </a:ext>
            </a:extLst>
          </p:cNvPr>
          <p:cNvSpPr/>
          <p:nvPr/>
        </p:nvSpPr>
        <p:spPr>
          <a:xfrm>
            <a:off x="6520875" y="2944919"/>
            <a:ext cx="4278382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CellBoard</a:t>
            </a:r>
            <a:endParaRPr lang="en-US" altLang="ja-JP" dirty="0"/>
          </a:p>
          <a:p>
            <a:pPr algn="ctr"/>
            <a:r>
              <a:rPr lang="ja-JP" altLang="en-US" dirty="0"/>
              <a:t>セルがタテヨコに並んだゲームの盤</a:t>
            </a:r>
            <a:endParaRPr lang="en-US" altLang="ja-JP" dirty="0"/>
          </a:p>
        </p:txBody>
      </p:sp>
      <p:sp>
        <p:nvSpPr>
          <p:cNvPr id="21" name="吹き出し: 角を丸めた四角形 20">
            <a:extLst>
              <a:ext uri="{FF2B5EF4-FFF2-40B4-BE49-F238E27FC236}">
                <a16:creationId xmlns:a16="http://schemas.microsoft.com/office/drawing/2014/main" id="{8D3AA5C0-4971-70C9-C0A2-7CB332F65AB8}"/>
              </a:ext>
            </a:extLst>
          </p:cNvPr>
          <p:cNvSpPr/>
          <p:nvPr/>
        </p:nvSpPr>
        <p:spPr>
          <a:xfrm>
            <a:off x="6114473" y="4969674"/>
            <a:ext cx="2318327" cy="824346"/>
          </a:xfrm>
          <a:prstGeom prst="wedgeRoundRectCallout">
            <a:avLst>
              <a:gd name="adj1" fmla="val -59741"/>
              <a:gd name="adj2" fmla="val -109649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/>
              <a:t>マスの数だけ保持</a:t>
            </a:r>
            <a:endParaRPr lang="en-MY" altLang="ja-JP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FD4B675A-E031-5F65-A55B-879C25F25033}"/>
              </a:ext>
            </a:extLst>
          </p:cNvPr>
          <p:cNvSpPr/>
          <p:nvPr/>
        </p:nvSpPr>
        <p:spPr>
          <a:xfrm>
            <a:off x="7108232" y="1350423"/>
            <a:ext cx="2942755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BoardSize</a:t>
            </a:r>
            <a:endParaRPr lang="en-US" altLang="ja-JP" dirty="0"/>
          </a:p>
          <a:p>
            <a:pPr algn="ctr"/>
            <a:r>
              <a:rPr lang="en-US" altLang="ja-JP" dirty="0"/>
              <a:t>Board</a:t>
            </a:r>
            <a:r>
              <a:rPr lang="ja-JP" altLang="en-US" dirty="0"/>
              <a:t>のサイズを指定</a:t>
            </a:r>
            <a:endParaRPr lang="en-US" altLang="ja-JP" dirty="0"/>
          </a:p>
        </p:txBody>
      </p:sp>
      <p:sp>
        <p:nvSpPr>
          <p:cNvPr id="23" name="矢印: 下 22">
            <a:extLst>
              <a:ext uri="{FF2B5EF4-FFF2-40B4-BE49-F238E27FC236}">
                <a16:creationId xmlns:a16="http://schemas.microsoft.com/office/drawing/2014/main" id="{9A4BCA18-9956-11E0-BC79-8CB278A94828}"/>
              </a:ext>
            </a:extLst>
          </p:cNvPr>
          <p:cNvSpPr/>
          <p:nvPr/>
        </p:nvSpPr>
        <p:spPr>
          <a:xfrm>
            <a:off x="8432800" y="2171358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3062666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888C4F-BBB6-96CA-2DF2-4214EEA14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Mino</a:t>
            </a:r>
            <a:r>
              <a:rPr lang="ja-JP" altLang="en-US" dirty="0"/>
              <a:t>と関連クラス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8D07CBE-512C-4FAC-6651-272B9D200FB5}"/>
              </a:ext>
            </a:extLst>
          </p:cNvPr>
          <p:cNvSpPr/>
          <p:nvPr/>
        </p:nvSpPr>
        <p:spPr>
          <a:xfrm>
            <a:off x="1209964" y="2098963"/>
            <a:ext cx="2770910" cy="90285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Mino</a:t>
            </a:r>
          </a:p>
          <a:p>
            <a:pPr algn="ctr"/>
            <a:r>
              <a:rPr lang="ja-JP" altLang="en-US" dirty="0"/>
              <a:t>ミノ</a:t>
            </a:r>
            <a:endParaRPr lang="en-MY" altLang="ja-JP" dirty="0"/>
          </a:p>
          <a:p>
            <a:pPr algn="ctr"/>
            <a:r>
              <a:rPr lang="en-US" altLang="ja-JP" dirty="0"/>
              <a:t>Cell</a:t>
            </a:r>
            <a:r>
              <a:rPr lang="ja-JP" altLang="en-US" dirty="0"/>
              <a:t>テーブルに変換可能</a:t>
            </a:r>
            <a:endParaRPr lang="en-US" altLang="ja-JP" dirty="0"/>
          </a:p>
        </p:txBody>
      </p: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657AAB06-EE92-C283-FA72-36AECCB88228}"/>
              </a:ext>
            </a:extLst>
          </p:cNvPr>
          <p:cNvSpPr/>
          <p:nvPr/>
        </p:nvSpPr>
        <p:spPr>
          <a:xfrm>
            <a:off x="1579418" y="3300956"/>
            <a:ext cx="1357746" cy="1234098"/>
          </a:xfrm>
          <a:prstGeom prst="wedgeRoundRectCallout">
            <a:avLst>
              <a:gd name="adj1" fmla="val 62344"/>
              <a:gd name="adj2" fmla="val -67737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/>
              <a:t>・種類</a:t>
            </a:r>
            <a:endParaRPr lang="en-MY" altLang="ja-JP" dirty="0"/>
          </a:p>
          <a:p>
            <a:r>
              <a:rPr lang="ja-JP" altLang="en-US" dirty="0"/>
              <a:t>・形</a:t>
            </a:r>
            <a:endParaRPr lang="en-MY" altLang="ja-JP" dirty="0"/>
          </a:p>
          <a:p>
            <a:r>
              <a:rPr lang="ja-JP" altLang="en-US" dirty="0"/>
              <a:t>・回転</a:t>
            </a:r>
            <a:endParaRPr lang="en-MY" altLang="ja-JP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6C40B1C-7664-B21A-D5D1-3F4BE9121727}"/>
              </a:ext>
            </a:extLst>
          </p:cNvPr>
          <p:cNvSpPr/>
          <p:nvPr/>
        </p:nvSpPr>
        <p:spPr>
          <a:xfrm>
            <a:off x="5803109" y="2002919"/>
            <a:ext cx="4278382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CurrentMinoManager</a:t>
            </a:r>
            <a:endParaRPr lang="en-US" altLang="ja-JP" dirty="0"/>
          </a:p>
          <a:p>
            <a:pPr algn="ctr"/>
            <a:r>
              <a:rPr lang="ja-JP" altLang="en-US" dirty="0"/>
              <a:t>現在操作可能なミノのステータス</a:t>
            </a:r>
            <a:endParaRPr lang="en-US" altLang="ja-JP" dirty="0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875AA5E6-E66E-4853-70B3-6DEA505AF671}"/>
              </a:ext>
            </a:extLst>
          </p:cNvPr>
          <p:cNvSpPr/>
          <p:nvPr/>
        </p:nvSpPr>
        <p:spPr>
          <a:xfrm flipH="1">
            <a:off x="3937365" y="1966603"/>
            <a:ext cx="1865744" cy="116757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保持</a:t>
            </a:r>
            <a:endParaRPr lang="en-MY" altLang="ja-JP" dirty="0"/>
          </a:p>
          <a:p>
            <a:pPr algn="ctr"/>
            <a:r>
              <a:rPr lang="en-MY" dirty="0" err="1"/>
              <a:t>currentMino</a:t>
            </a:r>
            <a:endParaRPr lang="en-MY" dirty="0"/>
          </a:p>
        </p:txBody>
      </p:sp>
      <p:sp>
        <p:nvSpPr>
          <p:cNvPr id="10" name="吹き出し: 角を丸めた四角形 9">
            <a:extLst>
              <a:ext uri="{FF2B5EF4-FFF2-40B4-BE49-F238E27FC236}">
                <a16:creationId xmlns:a16="http://schemas.microsoft.com/office/drawing/2014/main" id="{9AF53447-5A72-2E4A-C860-049F2443EC62}"/>
              </a:ext>
            </a:extLst>
          </p:cNvPr>
          <p:cNvSpPr/>
          <p:nvPr/>
        </p:nvSpPr>
        <p:spPr>
          <a:xfrm>
            <a:off x="4973781" y="3084078"/>
            <a:ext cx="1357746" cy="480813"/>
          </a:xfrm>
          <a:prstGeom prst="wedgeRoundRectCallout">
            <a:avLst>
              <a:gd name="adj1" fmla="val 63705"/>
              <a:gd name="adj2" fmla="val -117683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/>
              <a:t>・座標</a:t>
            </a:r>
            <a:endParaRPr lang="en-MY" altLang="ja-JP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20D2435-D42A-73D0-0D31-2B2A949EC21E}"/>
              </a:ext>
            </a:extLst>
          </p:cNvPr>
          <p:cNvSpPr/>
          <p:nvPr/>
        </p:nvSpPr>
        <p:spPr>
          <a:xfrm>
            <a:off x="3339797" y="5127268"/>
            <a:ext cx="2867890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Bag</a:t>
            </a:r>
          </a:p>
          <a:p>
            <a:pPr algn="ctr"/>
            <a:r>
              <a:rPr lang="ja-JP" altLang="en-US" dirty="0"/>
              <a:t>キューの生成方法</a:t>
            </a:r>
            <a:endParaRPr lang="en-US" altLang="ja-JP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25E4D21-4784-AC43-B34A-4BE24425ECA5}"/>
              </a:ext>
            </a:extLst>
          </p:cNvPr>
          <p:cNvSpPr/>
          <p:nvPr/>
        </p:nvSpPr>
        <p:spPr>
          <a:xfrm>
            <a:off x="7713215" y="5127268"/>
            <a:ext cx="2867890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MinoQueueManager</a:t>
            </a:r>
            <a:endParaRPr lang="en-US" altLang="ja-JP" dirty="0"/>
          </a:p>
          <a:p>
            <a:pPr algn="ctr"/>
            <a:r>
              <a:rPr lang="ja-JP" altLang="en-US" dirty="0"/>
              <a:t>ミノキューの管理</a:t>
            </a:r>
            <a:endParaRPr lang="en-US" altLang="ja-JP" dirty="0"/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6AE0D4B3-B544-FCD8-9C43-2C912FA9D04B}"/>
              </a:ext>
            </a:extLst>
          </p:cNvPr>
          <p:cNvSpPr/>
          <p:nvPr/>
        </p:nvSpPr>
        <p:spPr>
          <a:xfrm flipH="1">
            <a:off x="5952716" y="5324695"/>
            <a:ext cx="1865744" cy="563418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保持　</a:t>
            </a:r>
            <a:r>
              <a:rPr lang="en-MY" altLang="ja-JP" dirty="0"/>
              <a:t>bag</a:t>
            </a:r>
            <a:endParaRPr lang="en-MY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9EDA09C-F727-69C4-3DA0-C4F39F89711C}"/>
              </a:ext>
            </a:extLst>
          </p:cNvPr>
          <p:cNvSpPr/>
          <p:nvPr/>
        </p:nvSpPr>
        <p:spPr>
          <a:xfrm>
            <a:off x="5074410" y="4137765"/>
            <a:ext cx="2867890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minoQueue</a:t>
            </a:r>
            <a:endParaRPr lang="en-US" altLang="ja-JP" dirty="0"/>
          </a:p>
          <a:p>
            <a:pPr algn="ctr"/>
            <a:r>
              <a:rPr lang="ja-JP" altLang="en-US" dirty="0"/>
              <a:t>ミノの配列</a:t>
            </a:r>
            <a:endParaRPr lang="en-US" altLang="ja-JP" dirty="0"/>
          </a:p>
        </p:txBody>
      </p:sp>
      <p:sp>
        <p:nvSpPr>
          <p:cNvPr id="18" name="矢印: 右 17">
            <a:extLst>
              <a:ext uri="{FF2B5EF4-FFF2-40B4-BE49-F238E27FC236}">
                <a16:creationId xmlns:a16="http://schemas.microsoft.com/office/drawing/2014/main" id="{1ABD3731-875F-03B7-18F0-924DC42630D5}"/>
              </a:ext>
            </a:extLst>
          </p:cNvPr>
          <p:cNvSpPr/>
          <p:nvPr/>
        </p:nvSpPr>
        <p:spPr>
          <a:xfrm rot="870270" flipH="1">
            <a:off x="7757574" y="4606153"/>
            <a:ext cx="1865744" cy="563418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保持　</a:t>
            </a:r>
            <a:endParaRPr lang="en-MY" dirty="0"/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D8629FD2-D36B-9CCF-1CB5-8A8F71926031}"/>
              </a:ext>
            </a:extLst>
          </p:cNvPr>
          <p:cNvSpPr/>
          <p:nvPr/>
        </p:nvSpPr>
        <p:spPr>
          <a:xfrm rot="2322479" flipH="1">
            <a:off x="3542379" y="3232778"/>
            <a:ext cx="1865744" cy="706072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保持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3420186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9B94F8-4C52-3D24-9ACE-8F99F4692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その他の</a:t>
            </a:r>
            <a:r>
              <a:rPr lang="en-MY" altLang="ja-JP" dirty="0"/>
              <a:t>core</a:t>
            </a:r>
            <a:r>
              <a:rPr lang="ja-JP" altLang="en-US" dirty="0"/>
              <a:t>に属するクラス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5F366CD-29CD-B6D0-D8D4-9F4106CBA1CC}"/>
              </a:ext>
            </a:extLst>
          </p:cNvPr>
          <p:cNvSpPr/>
          <p:nvPr/>
        </p:nvSpPr>
        <p:spPr>
          <a:xfrm>
            <a:off x="1291267" y="2099369"/>
            <a:ext cx="4112005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LineClearManager</a:t>
            </a:r>
            <a:endParaRPr lang="en-US" altLang="ja-JP" dirty="0"/>
          </a:p>
          <a:p>
            <a:pPr algn="ctr"/>
            <a:r>
              <a:rPr lang="ja-JP" altLang="en-US" dirty="0"/>
              <a:t>ライン消去の検知・実行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61663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F45DD4-4291-C1C3-2BF3-23F339000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infra </a:t>
            </a:r>
            <a:r>
              <a:rPr lang="en-MY" dirty="0" err="1"/>
              <a:t>gameContext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05A952-EF87-2D5D-8628-D616759A2519}"/>
              </a:ext>
            </a:extLst>
          </p:cNvPr>
          <p:cNvSpPr/>
          <p:nvPr/>
        </p:nvSpPr>
        <p:spPr>
          <a:xfrm>
            <a:off x="1134128" y="4140200"/>
            <a:ext cx="4278382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CellBoard</a:t>
            </a:r>
            <a:endParaRPr lang="en-US" altLang="ja-JP" dirty="0"/>
          </a:p>
          <a:p>
            <a:pPr algn="ctr"/>
            <a:r>
              <a:rPr lang="ja-JP" altLang="en-US" dirty="0"/>
              <a:t>セルがタテヨコに並んだゲームの盤</a:t>
            </a:r>
            <a:endParaRPr lang="en-US" altLang="ja-JP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17269207-16C0-F48A-3CAB-0818DA77A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6170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MY" dirty="0" err="1"/>
              <a:t>gameContext</a:t>
            </a:r>
            <a:r>
              <a:rPr lang="ja-JP" altLang="en-US" dirty="0"/>
              <a:t>はゲームコントロール関係のクラスにいちプレイヤーのゲームの情報を渡すためのもの</a:t>
            </a:r>
            <a:endParaRPr lang="en-MY" altLang="ja-JP" dirty="0"/>
          </a:p>
          <a:p>
            <a:pPr marL="0" indent="0">
              <a:buNone/>
            </a:pPr>
            <a:r>
              <a:rPr lang="ja-JP" altLang="en-US" dirty="0"/>
              <a:t>つまりゲームの構成要素</a:t>
            </a:r>
            <a:endParaRPr lang="en-MY" altLang="ja-JP" dirty="0"/>
          </a:p>
          <a:p>
            <a:pPr marL="0" indent="0">
              <a:buNone/>
            </a:pPr>
            <a:r>
              <a:rPr lang="en-MY" altLang="ja-JP" dirty="0"/>
              <a:t>Control</a:t>
            </a:r>
            <a:r>
              <a:rPr lang="ja-JP" altLang="en-US" dirty="0"/>
              <a:t>レイヤーや</a:t>
            </a:r>
            <a:r>
              <a:rPr lang="en-MY" altLang="ja-JP" dirty="0" err="1"/>
              <a:t>ViewControl</a:t>
            </a:r>
            <a:r>
              <a:rPr lang="ja-JP" altLang="en-US" dirty="0"/>
              <a:t>レイヤーに渡される</a:t>
            </a:r>
            <a:endParaRPr lang="en-MY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BEE2733-A142-59DA-A1D4-7D7AC30ADD30}"/>
              </a:ext>
            </a:extLst>
          </p:cNvPr>
          <p:cNvSpPr/>
          <p:nvPr/>
        </p:nvSpPr>
        <p:spPr>
          <a:xfrm>
            <a:off x="5969365" y="4190783"/>
            <a:ext cx="4278382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CurrentMinoManager</a:t>
            </a:r>
            <a:endParaRPr lang="en-US" altLang="ja-JP" dirty="0"/>
          </a:p>
          <a:p>
            <a:pPr algn="ctr"/>
            <a:r>
              <a:rPr lang="ja-JP" altLang="en-US" dirty="0"/>
              <a:t>現在操作可能なミノのステータス</a:t>
            </a:r>
            <a:endParaRPr lang="en-US" altLang="ja-JP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C45A937-0108-345B-3BAE-13A5C36C145E}"/>
              </a:ext>
            </a:extLst>
          </p:cNvPr>
          <p:cNvSpPr/>
          <p:nvPr/>
        </p:nvSpPr>
        <p:spPr>
          <a:xfrm>
            <a:off x="1030218" y="5285076"/>
            <a:ext cx="2865218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MinoQueueManager</a:t>
            </a:r>
            <a:endParaRPr lang="en-US" altLang="ja-JP" dirty="0"/>
          </a:p>
          <a:p>
            <a:pPr algn="ctr"/>
            <a:r>
              <a:rPr lang="ja-JP" altLang="en-US" dirty="0"/>
              <a:t>ネクスト管理</a:t>
            </a:r>
            <a:endParaRPr lang="en-US" altLang="ja-JP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20A074A-0D1B-F352-225E-4FFEC5409636}"/>
              </a:ext>
            </a:extLst>
          </p:cNvPr>
          <p:cNvSpPr/>
          <p:nvPr/>
        </p:nvSpPr>
        <p:spPr>
          <a:xfrm>
            <a:off x="4246783" y="5285076"/>
            <a:ext cx="2708199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rotationSystem</a:t>
            </a:r>
            <a:endParaRPr lang="en-MY" altLang="ja-JP" dirty="0"/>
          </a:p>
          <a:p>
            <a:pPr algn="ctr"/>
            <a:r>
              <a:rPr lang="ja-JP" altLang="en-US" dirty="0"/>
              <a:t>使用される回転法則</a:t>
            </a:r>
            <a:endParaRPr lang="en-US" altLang="ja-JP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C80EFB2-637A-907C-F047-6DA711FFF9EB}"/>
              </a:ext>
            </a:extLst>
          </p:cNvPr>
          <p:cNvSpPr/>
          <p:nvPr/>
        </p:nvSpPr>
        <p:spPr>
          <a:xfrm>
            <a:off x="7306329" y="5285076"/>
            <a:ext cx="3186181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BoardUpdateState</a:t>
            </a:r>
            <a:endParaRPr lang="en-US" altLang="ja-JP" dirty="0"/>
          </a:p>
          <a:p>
            <a:pPr algn="ctr"/>
            <a:r>
              <a:rPr lang="en-US" altLang="ja-JP" dirty="0" err="1"/>
              <a:t>BoardUpdator</a:t>
            </a:r>
            <a:r>
              <a:rPr lang="ja-JP" altLang="en-US" dirty="0"/>
              <a:t>に用いられる</a:t>
            </a:r>
            <a:br>
              <a:rPr lang="en-MY" altLang="ja-JP" dirty="0"/>
            </a:br>
            <a:r>
              <a:rPr lang="ja-JP" altLang="en-US" dirty="0"/>
              <a:t>ゲームの状態</a:t>
            </a:r>
            <a:endParaRPr lang="en-US" altLang="ja-JP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39E2943-E633-AAF7-5F9A-8A3B3C53757C}"/>
              </a:ext>
            </a:extLst>
          </p:cNvPr>
          <p:cNvSpPr/>
          <p:nvPr/>
        </p:nvSpPr>
        <p:spPr>
          <a:xfrm>
            <a:off x="8832639" y="2392651"/>
            <a:ext cx="3186181" cy="8243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　</a:t>
            </a:r>
            <a:r>
              <a:rPr lang="en-US" altLang="ja-JP" dirty="0" err="1"/>
              <a:t>BoardSize</a:t>
            </a:r>
            <a:endParaRPr lang="en-US" altLang="ja-JP" dirty="0"/>
          </a:p>
          <a:p>
            <a:pPr algn="ctr"/>
            <a:r>
              <a:rPr lang="en-US" altLang="ja-JP" dirty="0" err="1"/>
              <a:t>CellBoard</a:t>
            </a:r>
            <a:r>
              <a:rPr lang="ja-JP" altLang="en-US" dirty="0"/>
              <a:t>のサイズ情報だけを抜き出したもの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6051760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F23EB8-CC15-75BE-3229-C3B49B7BD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control</a:t>
            </a:r>
            <a:r>
              <a:rPr lang="ja-JP" altLang="en-US" dirty="0"/>
              <a:t>レイヤー</a:t>
            </a:r>
            <a:endParaRPr lang="en-MY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31AF94-7B54-32B2-6C3C-4A9C83D70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811"/>
            <a:ext cx="10515600" cy="1176193"/>
          </a:xfrm>
        </p:spPr>
        <p:txBody>
          <a:bodyPr/>
          <a:lstStyle/>
          <a:p>
            <a:pPr marL="0" indent="0">
              <a:buNone/>
            </a:pPr>
            <a:r>
              <a:rPr lang="en-MY" dirty="0" err="1"/>
              <a:t>gameContext</a:t>
            </a:r>
            <a:r>
              <a:rPr lang="ja-JP" altLang="en-US" dirty="0"/>
              <a:t>を受け取って初期化される</a:t>
            </a:r>
            <a:endParaRPr lang="en-MY" altLang="ja-JP" dirty="0"/>
          </a:p>
          <a:p>
            <a:pPr marL="0" indent="0">
              <a:buNone/>
            </a:pP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0648077-2F3C-EED5-8C39-6F0638C5AD3C}"/>
              </a:ext>
            </a:extLst>
          </p:cNvPr>
          <p:cNvSpPr/>
          <p:nvPr/>
        </p:nvSpPr>
        <p:spPr>
          <a:xfrm>
            <a:off x="1320801" y="4498939"/>
            <a:ext cx="4017817" cy="89549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</a:t>
            </a:r>
            <a:endParaRPr lang="en-MY" altLang="ja-JP" dirty="0"/>
          </a:p>
          <a:p>
            <a:pPr algn="ctr"/>
            <a:r>
              <a:rPr lang="ja-JP" altLang="en-US" dirty="0"/>
              <a:t>毎フレーム、ボードの状態を進める</a:t>
            </a:r>
            <a:endParaRPr lang="en-MY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7110D68-8BC2-29DA-AD21-1D081DE27FBC}"/>
              </a:ext>
            </a:extLst>
          </p:cNvPr>
          <p:cNvSpPr/>
          <p:nvPr/>
        </p:nvSpPr>
        <p:spPr>
          <a:xfrm>
            <a:off x="1320800" y="2364635"/>
            <a:ext cx="4017817" cy="89549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GameController</a:t>
            </a:r>
            <a:endParaRPr lang="en-MY" altLang="ja-JP" dirty="0"/>
          </a:p>
          <a:p>
            <a:pPr algn="ctr"/>
            <a:r>
              <a:rPr lang="ja-JP" altLang="en-US" dirty="0"/>
              <a:t>ゲームの状態を全て管理</a:t>
            </a:r>
            <a:endParaRPr lang="en-MY" altLang="ja-JP" dirty="0"/>
          </a:p>
          <a:p>
            <a:pPr algn="ctr"/>
            <a:r>
              <a:rPr lang="ja-JP" altLang="en-US" dirty="0"/>
              <a:t>ミノの生成やライン消去など</a:t>
            </a:r>
            <a:endParaRPr lang="en-MY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D5392F1-BE9E-E0B2-EA27-5E4A66D544BD}"/>
              </a:ext>
            </a:extLst>
          </p:cNvPr>
          <p:cNvSpPr/>
          <p:nvPr/>
        </p:nvSpPr>
        <p:spPr>
          <a:xfrm>
            <a:off x="6096000" y="4498938"/>
            <a:ext cx="4017817" cy="89549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</a:t>
            </a:r>
            <a:r>
              <a:rPr lang="en-US" altLang="ja-JP" dirty="0"/>
              <a:t>Calculator</a:t>
            </a:r>
            <a:endParaRPr lang="en-MY" altLang="ja-JP" dirty="0"/>
          </a:p>
          <a:p>
            <a:pPr algn="ctr"/>
            <a:r>
              <a:rPr lang="ja-JP" altLang="en-US" dirty="0"/>
              <a:t>毎フレーム、ボードの状態を進めたら何が起こるかを計算する</a:t>
            </a:r>
            <a:endParaRPr lang="en-MY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A59996-B4EA-1B66-8398-D93362DC8B1B}"/>
              </a:ext>
            </a:extLst>
          </p:cNvPr>
          <p:cNvSpPr/>
          <p:nvPr/>
        </p:nvSpPr>
        <p:spPr>
          <a:xfrm>
            <a:off x="6096000" y="2359062"/>
            <a:ext cx="4017817" cy="89549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ControlOrderProvider</a:t>
            </a:r>
            <a:endParaRPr lang="en-MY" altLang="ja-JP" dirty="0"/>
          </a:p>
          <a:p>
            <a:pPr algn="ctr"/>
            <a:r>
              <a:rPr lang="ja-JP" altLang="en-US" dirty="0"/>
              <a:t>毎フレーム</a:t>
            </a:r>
            <a:r>
              <a:rPr lang="en-MY" altLang="ja-JP" dirty="0" err="1"/>
              <a:t>ControlOrder</a:t>
            </a:r>
            <a:r>
              <a:rPr lang="ja-JP" altLang="en-US" dirty="0"/>
              <a:t>を提供する</a:t>
            </a:r>
            <a:endParaRPr lang="en-MY" altLang="ja-JP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AB9B1DA-44EC-4FCF-04A3-4FF06E5CE2C6}"/>
              </a:ext>
            </a:extLst>
          </p:cNvPr>
          <p:cNvSpPr/>
          <p:nvPr/>
        </p:nvSpPr>
        <p:spPr>
          <a:xfrm>
            <a:off x="2332182" y="3435443"/>
            <a:ext cx="3652981" cy="89549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ControlOrder</a:t>
            </a:r>
            <a:endParaRPr lang="en-US" altLang="ja-JP" dirty="0"/>
          </a:p>
          <a:p>
            <a:pPr algn="ctr"/>
            <a:r>
              <a:rPr lang="ja-JP" altLang="en-US" dirty="0"/>
              <a:t>プレイヤーのフレーム毎の入力</a:t>
            </a:r>
            <a:endParaRPr lang="en-MY" altLang="ja-JP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4A6E39C-1CBD-28D8-59A1-39DFBD430E91}"/>
              </a:ext>
            </a:extLst>
          </p:cNvPr>
          <p:cNvSpPr/>
          <p:nvPr/>
        </p:nvSpPr>
        <p:spPr>
          <a:xfrm>
            <a:off x="3551381" y="5597382"/>
            <a:ext cx="4354946" cy="89549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BoardUpdateState</a:t>
            </a:r>
            <a:endParaRPr lang="en-US" altLang="ja-JP" dirty="0"/>
          </a:p>
          <a:p>
            <a:pPr algn="ctr"/>
            <a:r>
              <a:rPr lang="ja-JP" altLang="en-US" dirty="0"/>
              <a:t>ボードの操作に関わるいろいろな状態</a:t>
            </a:r>
            <a:endParaRPr lang="en-MY" altLang="ja-JP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B47E944-456F-0339-5322-93B8E127308B}"/>
              </a:ext>
            </a:extLst>
          </p:cNvPr>
          <p:cNvSpPr/>
          <p:nvPr/>
        </p:nvSpPr>
        <p:spPr>
          <a:xfrm>
            <a:off x="5814291" y="3435443"/>
            <a:ext cx="4017817" cy="89113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controlOrderFrag</a:t>
            </a:r>
            <a:r>
              <a:rPr lang="en-MY" dirty="0">
                <a:solidFill>
                  <a:schemeClr val="bg1"/>
                </a:solidFill>
              </a:rPr>
              <a:t> (</a:t>
            </a:r>
            <a:r>
              <a:rPr lang="ja-JP" altLang="en-US" dirty="0">
                <a:solidFill>
                  <a:schemeClr val="bg1"/>
                </a:solidFill>
              </a:rPr>
              <a:t>数値</a:t>
            </a:r>
            <a:r>
              <a:rPr lang="en-MY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en-MY" altLang="ja-JP" dirty="0" err="1">
                <a:solidFill>
                  <a:schemeClr val="bg1"/>
                </a:solidFill>
              </a:rPr>
              <a:t>ControlOrder</a:t>
            </a:r>
            <a:r>
              <a:rPr lang="ja-JP" altLang="en-US" dirty="0">
                <a:solidFill>
                  <a:schemeClr val="bg1"/>
                </a:solidFill>
              </a:rPr>
              <a:t>の値だけビットフラグとして取り出したもの。演算に便利</a:t>
            </a:r>
            <a:endParaRPr lang="en-MY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6141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8B8360-B897-86F0-F9E0-AB6E9CC73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altLang="ja-JP" dirty="0" err="1"/>
              <a:t>boardUpdater</a:t>
            </a:r>
            <a:r>
              <a:rPr lang="ja-JP" altLang="en-US" dirty="0"/>
              <a:t>の流れ</a:t>
            </a:r>
            <a:r>
              <a:rPr lang="en-MY" altLang="ja-JP" dirty="0"/>
              <a:t>1</a:t>
            </a:r>
            <a:endParaRPr lang="en-MY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09F3B0A-3970-4A4E-7499-3D9CEC96C94E}"/>
              </a:ext>
            </a:extLst>
          </p:cNvPr>
          <p:cNvGrpSpPr/>
          <p:nvPr/>
        </p:nvGrpSpPr>
        <p:grpSpPr>
          <a:xfrm>
            <a:off x="3519055" y="4070387"/>
            <a:ext cx="3121891" cy="2422488"/>
            <a:chOff x="3888509" y="2068945"/>
            <a:chExt cx="3121891" cy="242248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393086FB-AF63-9255-1658-24571A8FD8A1}"/>
                </a:ext>
              </a:extLst>
            </p:cNvPr>
            <p:cNvSpPr/>
            <p:nvPr/>
          </p:nvSpPr>
          <p:spPr>
            <a:xfrm>
              <a:off x="4117471" y="3218943"/>
              <a:ext cx="1544419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CellBoard</a:t>
              </a:r>
              <a:endParaRPr lang="en-US" altLang="ja-JP" dirty="0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0CE66BE5-D187-4047-7D13-F73E2DEACB75}"/>
                </a:ext>
              </a:extLst>
            </p:cNvPr>
            <p:cNvSpPr/>
            <p:nvPr/>
          </p:nvSpPr>
          <p:spPr>
            <a:xfrm>
              <a:off x="4117471" y="2586181"/>
              <a:ext cx="2444962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CurrentMinoManager</a:t>
              </a:r>
              <a:endParaRPr lang="en-US" altLang="ja-JP" dirty="0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3AD9F2A-232F-863B-EF3C-46B6F514ED82}"/>
                </a:ext>
              </a:extLst>
            </p:cNvPr>
            <p:cNvSpPr/>
            <p:nvPr/>
          </p:nvSpPr>
          <p:spPr>
            <a:xfrm>
              <a:off x="4117471" y="3851705"/>
              <a:ext cx="2188653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BoardUpdateState</a:t>
              </a:r>
              <a:endParaRPr lang="en-US" altLang="ja-JP" dirty="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4778713C-0FB2-E8F5-EB46-984542453B44}"/>
                </a:ext>
              </a:extLst>
            </p:cNvPr>
            <p:cNvSpPr/>
            <p:nvPr/>
          </p:nvSpPr>
          <p:spPr>
            <a:xfrm>
              <a:off x="3888509" y="2068945"/>
              <a:ext cx="3121891" cy="24224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dirty="0"/>
                <a:t>ゲームの状態</a:t>
              </a:r>
              <a:endParaRPr lang="en-MY" dirty="0"/>
            </a:p>
          </p:txBody>
        </p:sp>
      </p:grp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25F74F9-7D0F-C594-1127-89059E8F807C}"/>
              </a:ext>
            </a:extLst>
          </p:cNvPr>
          <p:cNvSpPr/>
          <p:nvPr/>
        </p:nvSpPr>
        <p:spPr>
          <a:xfrm>
            <a:off x="1685997" y="2584776"/>
            <a:ext cx="3033785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BoardUpdater.update</a:t>
            </a:r>
            <a:r>
              <a:rPr lang="en-MY" altLang="ja-JP" dirty="0"/>
              <a:t>()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5784DC6-BFE1-1207-A4CA-7941ADF635C3}"/>
              </a:ext>
            </a:extLst>
          </p:cNvPr>
          <p:cNvSpPr/>
          <p:nvPr/>
        </p:nvSpPr>
        <p:spPr>
          <a:xfrm>
            <a:off x="2318507" y="1377734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ControlOrder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C8E20DFE-CC3A-5982-D42D-CC730452FA18}"/>
              </a:ext>
            </a:extLst>
          </p:cNvPr>
          <p:cNvSpPr/>
          <p:nvPr/>
        </p:nvSpPr>
        <p:spPr>
          <a:xfrm>
            <a:off x="2872510" y="1807804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CFDD89D1-23C2-6575-0C64-7BA5E15032A5}"/>
              </a:ext>
            </a:extLst>
          </p:cNvPr>
          <p:cNvSpPr/>
          <p:nvPr/>
        </p:nvSpPr>
        <p:spPr>
          <a:xfrm>
            <a:off x="1548569" y="2330776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24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4CB2ABE-98F1-D744-8E61-826E1AEAA698}"/>
              </a:ext>
            </a:extLst>
          </p:cNvPr>
          <p:cNvSpPr/>
          <p:nvPr/>
        </p:nvSpPr>
        <p:spPr>
          <a:xfrm>
            <a:off x="7370979" y="2584776"/>
            <a:ext cx="3033785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BoardUpdateCalculator</a:t>
            </a:r>
            <a:endParaRPr lang="en-MY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0D5C9F7-06D6-7BDA-E916-914A62D499B6}"/>
              </a:ext>
            </a:extLst>
          </p:cNvPr>
          <p:cNvSpPr/>
          <p:nvPr/>
        </p:nvSpPr>
        <p:spPr>
          <a:xfrm>
            <a:off x="3424741" y="1851585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96543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2A0AA-2008-9E3B-31C6-06C90C358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F59E7B-7736-E796-5696-CD7924966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altLang="ja-JP" dirty="0" err="1"/>
              <a:t>boardUpdater</a:t>
            </a:r>
            <a:r>
              <a:rPr lang="ja-JP" altLang="en-US" dirty="0"/>
              <a:t>の流れ</a:t>
            </a:r>
            <a:r>
              <a:rPr lang="en-MY" altLang="ja-JP" dirty="0"/>
              <a:t>2</a:t>
            </a:r>
            <a:endParaRPr lang="en-MY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767AE90-A8F9-CBF0-22FA-130C79419391}"/>
              </a:ext>
            </a:extLst>
          </p:cNvPr>
          <p:cNvGrpSpPr/>
          <p:nvPr/>
        </p:nvGrpSpPr>
        <p:grpSpPr>
          <a:xfrm>
            <a:off x="3394362" y="3947502"/>
            <a:ext cx="3121891" cy="2422488"/>
            <a:chOff x="3888509" y="2068945"/>
            <a:chExt cx="3121891" cy="242248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22A9675A-D8BC-CC42-B4BE-95EC678EBC04}"/>
                </a:ext>
              </a:extLst>
            </p:cNvPr>
            <p:cNvSpPr/>
            <p:nvPr/>
          </p:nvSpPr>
          <p:spPr>
            <a:xfrm>
              <a:off x="4117471" y="3218943"/>
              <a:ext cx="1544419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CellBoard</a:t>
              </a:r>
              <a:endParaRPr lang="en-US" altLang="ja-JP" dirty="0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62FB7A00-082E-B869-EBAF-A1DBA0ADF73D}"/>
                </a:ext>
              </a:extLst>
            </p:cNvPr>
            <p:cNvSpPr/>
            <p:nvPr/>
          </p:nvSpPr>
          <p:spPr>
            <a:xfrm>
              <a:off x="4117471" y="2586181"/>
              <a:ext cx="2444962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CurrentMinoManager</a:t>
              </a:r>
              <a:endParaRPr lang="en-US" altLang="ja-JP" dirty="0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650C5E30-6AAE-C3EA-5D89-A327DBB07B30}"/>
                </a:ext>
              </a:extLst>
            </p:cNvPr>
            <p:cNvSpPr/>
            <p:nvPr/>
          </p:nvSpPr>
          <p:spPr>
            <a:xfrm>
              <a:off x="4117471" y="3851705"/>
              <a:ext cx="2188653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BoardUpdateState</a:t>
              </a:r>
              <a:endParaRPr lang="en-US" altLang="ja-JP" dirty="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1B3F2841-5D87-CB3D-AEA6-7AA36362B57B}"/>
                </a:ext>
              </a:extLst>
            </p:cNvPr>
            <p:cNvSpPr/>
            <p:nvPr/>
          </p:nvSpPr>
          <p:spPr>
            <a:xfrm>
              <a:off x="3888509" y="2068945"/>
              <a:ext cx="3121891" cy="24224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dirty="0"/>
                <a:t>ゲームの状態</a:t>
              </a:r>
              <a:endParaRPr lang="en-MY" dirty="0"/>
            </a:p>
          </p:txBody>
        </p:sp>
      </p:grp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6B6BEC0-C573-36DF-F232-ABA22D19A8C2}"/>
              </a:ext>
            </a:extLst>
          </p:cNvPr>
          <p:cNvSpPr/>
          <p:nvPr/>
        </p:nvSpPr>
        <p:spPr>
          <a:xfrm>
            <a:off x="1685997" y="2584776"/>
            <a:ext cx="3033785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BoardUpdater.update</a:t>
            </a:r>
            <a:r>
              <a:rPr lang="en-MY" altLang="ja-JP" dirty="0"/>
              <a:t>()</a:t>
            </a:r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53A7D76B-F33E-F596-5F2C-4C7B3CCFA38A}"/>
              </a:ext>
            </a:extLst>
          </p:cNvPr>
          <p:cNvSpPr/>
          <p:nvPr/>
        </p:nvSpPr>
        <p:spPr>
          <a:xfrm>
            <a:off x="4719781" y="2471577"/>
            <a:ext cx="2651198" cy="704722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56871194-1874-F3C4-33BC-9DF9B2834E33}"/>
              </a:ext>
            </a:extLst>
          </p:cNvPr>
          <p:cNvSpPr/>
          <p:nvPr/>
        </p:nvSpPr>
        <p:spPr>
          <a:xfrm rot="16503672">
            <a:off x="5329259" y="3318068"/>
            <a:ext cx="1157995" cy="373723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414AAC2-1413-25BD-2ED6-5E84D3D54EA7}"/>
              </a:ext>
            </a:extLst>
          </p:cNvPr>
          <p:cNvSpPr/>
          <p:nvPr/>
        </p:nvSpPr>
        <p:spPr>
          <a:xfrm>
            <a:off x="2170635" y="1360557"/>
            <a:ext cx="2050293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ControlOrder</a:t>
            </a:r>
            <a:r>
              <a:rPr lang="en-US" altLang="ja-JP" dirty="0">
                <a:solidFill>
                  <a:schemeClr val="bg1"/>
                </a:solidFill>
              </a:rPr>
              <a:t>Flag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15" name="矢印: 下 14">
            <a:extLst>
              <a:ext uri="{FF2B5EF4-FFF2-40B4-BE49-F238E27FC236}">
                <a16:creationId xmlns:a16="http://schemas.microsoft.com/office/drawing/2014/main" id="{3A9959AD-D8A2-8C8E-D238-413F42F17545}"/>
              </a:ext>
            </a:extLst>
          </p:cNvPr>
          <p:cNvSpPr/>
          <p:nvPr/>
        </p:nvSpPr>
        <p:spPr>
          <a:xfrm>
            <a:off x="2872510" y="1807804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A2B8520-2B3A-D3B6-A593-B585D04DF710}"/>
              </a:ext>
            </a:extLst>
          </p:cNvPr>
          <p:cNvSpPr/>
          <p:nvPr/>
        </p:nvSpPr>
        <p:spPr>
          <a:xfrm>
            <a:off x="7370979" y="2584776"/>
            <a:ext cx="3033785" cy="1186451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BoardUpdateCalculator</a:t>
            </a:r>
            <a:endParaRPr lang="en-US" altLang="ja-JP" dirty="0"/>
          </a:p>
          <a:p>
            <a:pPr algn="ctr"/>
            <a:r>
              <a:rPr lang="en-MY" altLang="ja-JP" dirty="0"/>
              <a:t>.calculate()</a:t>
            </a:r>
          </a:p>
          <a:p>
            <a:pPr algn="ctr"/>
            <a:r>
              <a:rPr lang="ja-JP" altLang="en-US" dirty="0"/>
              <a:t>操作を計算して結果を作成</a:t>
            </a:r>
            <a:endParaRPr lang="en-MY" altLang="ja-JP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F1FF18B7-5998-B9AC-EE53-704867A6AD62}"/>
              </a:ext>
            </a:extLst>
          </p:cNvPr>
          <p:cNvSpPr/>
          <p:nvPr/>
        </p:nvSpPr>
        <p:spPr>
          <a:xfrm>
            <a:off x="10161202" y="2274177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24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BDB1FDA-45A6-D4DC-5775-785DD3CC7204}"/>
              </a:ext>
            </a:extLst>
          </p:cNvPr>
          <p:cNvSpPr/>
          <p:nvPr/>
        </p:nvSpPr>
        <p:spPr>
          <a:xfrm>
            <a:off x="7767788" y="3635152"/>
            <a:ext cx="2050293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BoardUpdateDiff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20" name="吹き出し: 角を丸めた四角形 19">
            <a:extLst>
              <a:ext uri="{FF2B5EF4-FFF2-40B4-BE49-F238E27FC236}">
                <a16:creationId xmlns:a16="http://schemas.microsoft.com/office/drawing/2014/main" id="{11784893-C14F-1219-5B1F-40E2A451A2DB}"/>
              </a:ext>
            </a:extLst>
          </p:cNvPr>
          <p:cNvSpPr/>
          <p:nvPr/>
        </p:nvSpPr>
        <p:spPr>
          <a:xfrm>
            <a:off x="7860145" y="4464738"/>
            <a:ext cx="3325091" cy="1714582"/>
          </a:xfrm>
          <a:prstGeom prst="wedgeRoundRectCallout">
            <a:avLst>
              <a:gd name="adj1" fmla="val -16568"/>
              <a:gd name="adj2" fmla="val -70731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/>
              <a:t>操作の結果</a:t>
            </a:r>
            <a:endParaRPr lang="en-MY" altLang="ja-JP" dirty="0"/>
          </a:p>
          <a:p>
            <a:r>
              <a:rPr lang="ja-JP" altLang="en-US" dirty="0"/>
              <a:t>・ミノの移動量・回転量</a:t>
            </a:r>
            <a:endParaRPr lang="en-MY" altLang="ja-JP" dirty="0"/>
          </a:p>
          <a:p>
            <a:r>
              <a:rPr lang="ja-JP" altLang="en-US" dirty="0"/>
              <a:t>・ハードドロップ</a:t>
            </a:r>
            <a:endParaRPr lang="en-MY" altLang="ja-JP" dirty="0"/>
          </a:p>
          <a:p>
            <a:r>
              <a:rPr lang="ja-JP" altLang="en-US" dirty="0"/>
              <a:t>など</a:t>
            </a:r>
            <a:endParaRPr lang="en-MY" altLang="ja-JP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095E6AB-3EB3-08BF-F7A1-7777B3D5A41E}"/>
              </a:ext>
            </a:extLst>
          </p:cNvPr>
          <p:cNvSpPr/>
          <p:nvPr/>
        </p:nvSpPr>
        <p:spPr>
          <a:xfrm>
            <a:off x="4186618" y="1378102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8A84F654-37E3-2C9C-7956-451E07C82534}"/>
              </a:ext>
            </a:extLst>
          </p:cNvPr>
          <p:cNvSpPr/>
          <p:nvPr/>
        </p:nvSpPr>
        <p:spPr>
          <a:xfrm rot="1432652">
            <a:off x="3966594" y="1916705"/>
            <a:ext cx="1913747" cy="549253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181472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1EFFC-493B-FFAC-7B25-BD3122029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79322E-79C1-B2AE-5CBA-3506E7CDB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altLang="ja-JP" dirty="0" err="1"/>
              <a:t>boardUpdater</a:t>
            </a:r>
            <a:r>
              <a:rPr lang="ja-JP" altLang="en-US" dirty="0"/>
              <a:t>の流れ</a:t>
            </a:r>
            <a:r>
              <a:rPr lang="en-MY" altLang="ja-JP" dirty="0"/>
              <a:t>3</a:t>
            </a:r>
            <a:endParaRPr lang="en-MY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4CFC2A60-B975-D689-E63A-07A51FD9D78B}"/>
              </a:ext>
            </a:extLst>
          </p:cNvPr>
          <p:cNvGrpSpPr/>
          <p:nvPr/>
        </p:nvGrpSpPr>
        <p:grpSpPr>
          <a:xfrm>
            <a:off x="3394362" y="3947502"/>
            <a:ext cx="3121891" cy="2422488"/>
            <a:chOff x="3888509" y="2068945"/>
            <a:chExt cx="3121891" cy="242248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99EE3D92-A385-8734-0D7D-00B1D9A1329E}"/>
                </a:ext>
              </a:extLst>
            </p:cNvPr>
            <p:cNvSpPr/>
            <p:nvPr/>
          </p:nvSpPr>
          <p:spPr>
            <a:xfrm>
              <a:off x="4117471" y="3218943"/>
              <a:ext cx="1544419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CellBoard</a:t>
              </a:r>
              <a:endParaRPr lang="en-US" altLang="ja-JP" dirty="0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5C2F4CCA-9F40-41A0-3FE6-8B4594B1C0C4}"/>
                </a:ext>
              </a:extLst>
            </p:cNvPr>
            <p:cNvSpPr/>
            <p:nvPr/>
          </p:nvSpPr>
          <p:spPr>
            <a:xfrm>
              <a:off x="4117471" y="2586181"/>
              <a:ext cx="2444962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CurrentMinoManager</a:t>
              </a:r>
              <a:endParaRPr lang="en-US" altLang="ja-JP" dirty="0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78838812-FD93-381F-EDF9-CD7898E16170}"/>
                </a:ext>
              </a:extLst>
            </p:cNvPr>
            <p:cNvSpPr/>
            <p:nvPr/>
          </p:nvSpPr>
          <p:spPr>
            <a:xfrm>
              <a:off x="4117471" y="3851705"/>
              <a:ext cx="2188653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BoardUpdateState</a:t>
              </a:r>
              <a:endParaRPr lang="en-US" altLang="ja-JP" dirty="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EF22866-559C-1F73-EBD6-47B41B24E4D2}"/>
                </a:ext>
              </a:extLst>
            </p:cNvPr>
            <p:cNvSpPr/>
            <p:nvPr/>
          </p:nvSpPr>
          <p:spPr>
            <a:xfrm>
              <a:off x="3888509" y="2068945"/>
              <a:ext cx="3121891" cy="24224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dirty="0"/>
                <a:t>ゲームの状態</a:t>
              </a:r>
              <a:endParaRPr lang="en-MY" dirty="0"/>
            </a:p>
          </p:txBody>
        </p:sp>
      </p:grp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114FB64-A613-E80F-15A4-CBDACD8435FB}"/>
              </a:ext>
            </a:extLst>
          </p:cNvPr>
          <p:cNvSpPr/>
          <p:nvPr/>
        </p:nvSpPr>
        <p:spPr>
          <a:xfrm>
            <a:off x="1685997" y="2584776"/>
            <a:ext cx="3033785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BoardUpdater.update</a:t>
            </a:r>
            <a:r>
              <a:rPr lang="en-MY" altLang="ja-JP" dirty="0"/>
              <a:t>()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523280B-C78C-7E53-670C-63D618FEA463}"/>
              </a:ext>
            </a:extLst>
          </p:cNvPr>
          <p:cNvSpPr/>
          <p:nvPr/>
        </p:nvSpPr>
        <p:spPr>
          <a:xfrm>
            <a:off x="2170635" y="1360557"/>
            <a:ext cx="2050293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ControlOrder</a:t>
            </a:r>
            <a:r>
              <a:rPr lang="en-US" altLang="ja-JP" dirty="0">
                <a:solidFill>
                  <a:schemeClr val="bg1"/>
                </a:solidFill>
              </a:rPr>
              <a:t>Flag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15" name="矢印: 下 14">
            <a:extLst>
              <a:ext uri="{FF2B5EF4-FFF2-40B4-BE49-F238E27FC236}">
                <a16:creationId xmlns:a16="http://schemas.microsoft.com/office/drawing/2014/main" id="{14A4B6E2-9CCB-ABD0-53E8-2953651D7E1A}"/>
              </a:ext>
            </a:extLst>
          </p:cNvPr>
          <p:cNvSpPr/>
          <p:nvPr/>
        </p:nvSpPr>
        <p:spPr>
          <a:xfrm>
            <a:off x="2872510" y="1807804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17C764A-A248-0763-FCCE-6B858A1BA924}"/>
              </a:ext>
            </a:extLst>
          </p:cNvPr>
          <p:cNvSpPr/>
          <p:nvPr/>
        </p:nvSpPr>
        <p:spPr>
          <a:xfrm>
            <a:off x="7370979" y="2584776"/>
            <a:ext cx="3033785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BoardUpdateCalculator</a:t>
            </a:r>
            <a:endParaRPr lang="en-US" altLang="ja-JP" dirty="0"/>
          </a:p>
          <a:p>
            <a:pPr algn="ctr"/>
            <a:r>
              <a:rPr lang="en-MY" altLang="ja-JP" dirty="0"/>
              <a:t>.calculate()</a:t>
            </a:r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05D9AF6-A92A-9FB3-6D37-95527F9F40A6}"/>
              </a:ext>
            </a:extLst>
          </p:cNvPr>
          <p:cNvSpPr/>
          <p:nvPr/>
        </p:nvSpPr>
        <p:spPr>
          <a:xfrm>
            <a:off x="5314696" y="2140040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2400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FDBB098C-EA88-CC56-115A-777FF65F5661}"/>
              </a:ext>
            </a:extLst>
          </p:cNvPr>
          <p:cNvSpPr/>
          <p:nvPr/>
        </p:nvSpPr>
        <p:spPr>
          <a:xfrm flipH="1">
            <a:off x="4535054" y="2540797"/>
            <a:ext cx="2937166" cy="682481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返り値</a:t>
            </a:r>
            <a:endParaRPr lang="en-MY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69B6A49-F23F-1E7D-CD5F-F2A473BE1A6F}"/>
              </a:ext>
            </a:extLst>
          </p:cNvPr>
          <p:cNvSpPr/>
          <p:nvPr/>
        </p:nvSpPr>
        <p:spPr>
          <a:xfrm>
            <a:off x="4978490" y="3048797"/>
            <a:ext cx="2050293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BoardUpdateDiff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6272BDA-721C-C7C3-C2FB-865B513CD8B5}"/>
              </a:ext>
            </a:extLst>
          </p:cNvPr>
          <p:cNvSpPr/>
          <p:nvPr/>
        </p:nvSpPr>
        <p:spPr>
          <a:xfrm>
            <a:off x="3424741" y="1851585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6947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C5B20-9523-F7FB-0679-F7C361235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EE8F2-4C1C-47AA-2BF2-52F335D5F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altLang="ja-JP" dirty="0" err="1"/>
              <a:t>boardUpdater</a:t>
            </a:r>
            <a:r>
              <a:rPr lang="ja-JP" altLang="en-US" dirty="0"/>
              <a:t>の流れ</a:t>
            </a:r>
            <a:r>
              <a:rPr lang="en-MY" altLang="ja-JP" dirty="0"/>
              <a:t>4</a:t>
            </a:r>
            <a:endParaRPr lang="en-MY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8F60BAA6-8BE6-2437-4E09-263C087E3D47}"/>
              </a:ext>
            </a:extLst>
          </p:cNvPr>
          <p:cNvGrpSpPr/>
          <p:nvPr/>
        </p:nvGrpSpPr>
        <p:grpSpPr>
          <a:xfrm>
            <a:off x="5911274" y="4070387"/>
            <a:ext cx="3121891" cy="2422488"/>
            <a:chOff x="3888509" y="2068945"/>
            <a:chExt cx="3121891" cy="242248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2F4F8468-BFB1-386D-FB4E-AC715CC15583}"/>
                </a:ext>
              </a:extLst>
            </p:cNvPr>
            <p:cNvSpPr/>
            <p:nvPr/>
          </p:nvSpPr>
          <p:spPr>
            <a:xfrm>
              <a:off x="4117471" y="3218943"/>
              <a:ext cx="1544419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CellBoard</a:t>
              </a:r>
              <a:endParaRPr lang="en-US" altLang="ja-JP" dirty="0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1B305886-AD6F-4C9E-AF9E-17AB7B9A4C04}"/>
                </a:ext>
              </a:extLst>
            </p:cNvPr>
            <p:cNvSpPr/>
            <p:nvPr/>
          </p:nvSpPr>
          <p:spPr>
            <a:xfrm>
              <a:off x="4117471" y="2586181"/>
              <a:ext cx="2444962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CurrentMinoManager</a:t>
              </a:r>
              <a:endParaRPr lang="en-US" altLang="ja-JP" dirty="0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070C8F82-CCDD-AFD0-CBDB-8A56FA72EC27}"/>
                </a:ext>
              </a:extLst>
            </p:cNvPr>
            <p:cNvSpPr/>
            <p:nvPr/>
          </p:nvSpPr>
          <p:spPr>
            <a:xfrm>
              <a:off x="4117471" y="3851705"/>
              <a:ext cx="2188653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BoardUpdateState</a:t>
              </a:r>
              <a:endParaRPr lang="en-US" altLang="ja-JP" dirty="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50D9857D-7B60-F085-279D-DB0074F9A84D}"/>
                </a:ext>
              </a:extLst>
            </p:cNvPr>
            <p:cNvSpPr/>
            <p:nvPr/>
          </p:nvSpPr>
          <p:spPr>
            <a:xfrm>
              <a:off x="3888509" y="2068945"/>
              <a:ext cx="3121891" cy="24224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dirty="0"/>
                <a:t>ゲームの状態</a:t>
              </a:r>
              <a:endParaRPr lang="en-MY" dirty="0"/>
            </a:p>
          </p:txBody>
        </p:sp>
      </p:grp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11BB54D-6F51-ED4D-EBC5-4FB843FD123D}"/>
              </a:ext>
            </a:extLst>
          </p:cNvPr>
          <p:cNvSpPr/>
          <p:nvPr/>
        </p:nvSpPr>
        <p:spPr>
          <a:xfrm>
            <a:off x="1685997" y="2584776"/>
            <a:ext cx="3033785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BoardUpdater.update</a:t>
            </a:r>
            <a:r>
              <a:rPr lang="en-MY" altLang="ja-JP" dirty="0"/>
              <a:t>()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F6625823-AAB3-4FAB-6574-18DDD6BCB34B}"/>
              </a:ext>
            </a:extLst>
          </p:cNvPr>
          <p:cNvSpPr/>
          <p:nvPr/>
        </p:nvSpPr>
        <p:spPr>
          <a:xfrm>
            <a:off x="2170635" y="1360557"/>
            <a:ext cx="2050293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ControlOrder</a:t>
            </a:r>
            <a:r>
              <a:rPr lang="en-US" altLang="ja-JP" dirty="0">
                <a:solidFill>
                  <a:schemeClr val="bg1"/>
                </a:solidFill>
              </a:rPr>
              <a:t>Flag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15" name="矢印: 下 14">
            <a:extLst>
              <a:ext uri="{FF2B5EF4-FFF2-40B4-BE49-F238E27FC236}">
                <a16:creationId xmlns:a16="http://schemas.microsoft.com/office/drawing/2014/main" id="{24EE1672-C56B-CF52-178D-16E7CB3572FF}"/>
              </a:ext>
            </a:extLst>
          </p:cNvPr>
          <p:cNvSpPr/>
          <p:nvPr/>
        </p:nvSpPr>
        <p:spPr>
          <a:xfrm>
            <a:off x="2879616" y="3149925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B24C113-968A-7091-D056-7B4506584612}"/>
              </a:ext>
            </a:extLst>
          </p:cNvPr>
          <p:cNvSpPr/>
          <p:nvPr/>
        </p:nvSpPr>
        <p:spPr>
          <a:xfrm>
            <a:off x="7370979" y="2584776"/>
            <a:ext cx="3033785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BoardUpdateCalculator</a:t>
            </a:r>
            <a:endParaRPr lang="en-US" altLang="ja-JP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B189C822-B32B-6EFF-8FE0-5F7B9E945408}"/>
              </a:ext>
            </a:extLst>
          </p:cNvPr>
          <p:cNvSpPr/>
          <p:nvPr/>
        </p:nvSpPr>
        <p:spPr>
          <a:xfrm>
            <a:off x="2360344" y="3262763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24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2BA3144-F5AE-625B-958D-264B6FB4038E}"/>
              </a:ext>
            </a:extLst>
          </p:cNvPr>
          <p:cNvSpPr/>
          <p:nvPr/>
        </p:nvSpPr>
        <p:spPr>
          <a:xfrm>
            <a:off x="1547451" y="3900523"/>
            <a:ext cx="3033785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</a:t>
            </a:r>
            <a:r>
              <a:rPr lang="en-MY" altLang="ja-JP" dirty="0"/>
              <a:t>.#applyDiff()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FAEBAC5-701B-19E5-C596-9D15973D4125}"/>
              </a:ext>
            </a:extLst>
          </p:cNvPr>
          <p:cNvSpPr/>
          <p:nvPr/>
        </p:nvSpPr>
        <p:spPr>
          <a:xfrm>
            <a:off x="3509907" y="3262763"/>
            <a:ext cx="2050293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BoardUpdateDiff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0936272E-95B2-A2C2-01DA-825438DAACC3}"/>
              </a:ext>
            </a:extLst>
          </p:cNvPr>
          <p:cNvSpPr/>
          <p:nvPr/>
        </p:nvSpPr>
        <p:spPr>
          <a:xfrm rot="1436135">
            <a:off x="3911188" y="4510801"/>
            <a:ext cx="2188653" cy="133371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diff</a:t>
            </a:r>
            <a:r>
              <a:rPr lang="ja-JP" altLang="en-US" dirty="0"/>
              <a:t>に従って</a:t>
            </a:r>
            <a:endParaRPr lang="en-MY" altLang="ja-JP" dirty="0"/>
          </a:p>
          <a:p>
            <a:pPr algn="ctr"/>
            <a:r>
              <a:rPr lang="ja-JP" altLang="en-US" dirty="0"/>
              <a:t>状態を更新</a:t>
            </a:r>
            <a:endParaRPr lang="en-MY" dirty="0"/>
          </a:p>
        </p:txBody>
      </p:sp>
      <p:sp>
        <p:nvSpPr>
          <p:cNvPr id="17" name="矢印: 下 16">
            <a:extLst>
              <a:ext uri="{FF2B5EF4-FFF2-40B4-BE49-F238E27FC236}">
                <a16:creationId xmlns:a16="http://schemas.microsoft.com/office/drawing/2014/main" id="{26A6D3DB-0E0A-7351-2FB4-C94D5AC60CC0}"/>
              </a:ext>
            </a:extLst>
          </p:cNvPr>
          <p:cNvSpPr/>
          <p:nvPr/>
        </p:nvSpPr>
        <p:spPr>
          <a:xfrm>
            <a:off x="2872510" y="1807804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F7D8DA5-94A3-B4B3-D17E-88672AE8E997}"/>
              </a:ext>
            </a:extLst>
          </p:cNvPr>
          <p:cNvSpPr/>
          <p:nvPr/>
        </p:nvSpPr>
        <p:spPr>
          <a:xfrm>
            <a:off x="3424741" y="1851585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56308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D035C-7198-5AB7-2855-8DC07B089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7F57C5-D84C-8049-E86A-6CEA0E0ED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altLang="ja-JP" dirty="0" err="1"/>
              <a:t>boardUpdater</a:t>
            </a:r>
            <a:r>
              <a:rPr lang="ja-JP" altLang="en-US" dirty="0"/>
              <a:t>の流れ</a:t>
            </a:r>
            <a:r>
              <a:rPr lang="en-MY" altLang="ja-JP" dirty="0"/>
              <a:t>5</a:t>
            </a:r>
            <a:endParaRPr lang="en-MY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6253D0E8-E54C-8962-6643-EB20FA8AF332}"/>
              </a:ext>
            </a:extLst>
          </p:cNvPr>
          <p:cNvGrpSpPr/>
          <p:nvPr/>
        </p:nvGrpSpPr>
        <p:grpSpPr>
          <a:xfrm>
            <a:off x="5911274" y="4070387"/>
            <a:ext cx="3121891" cy="2422488"/>
            <a:chOff x="3888509" y="2068945"/>
            <a:chExt cx="3121891" cy="242248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D8DC6BCF-1A5E-AAD8-1A46-F67866170A32}"/>
                </a:ext>
              </a:extLst>
            </p:cNvPr>
            <p:cNvSpPr/>
            <p:nvPr/>
          </p:nvSpPr>
          <p:spPr>
            <a:xfrm>
              <a:off x="4117471" y="3218943"/>
              <a:ext cx="1544419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CellBoard</a:t>
              </a:r>
              <a:endParaRPr lang="en-US" altLang="ja-JP" dirty="0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40D5DD20-3DFA-D336-19E3-A7748A1C908E}"/>
                </a:ext>
              </a:extLst>
            </p:cNvPr>
            <p:cNvSpPr/>
            <p:nvPr/>
          </p:nvSpPr>
          <p:spPr>
            <a:xfrm>
              <a:off x="4117471" y="2586181"/>
              <a:ext cx="2444962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CurrentMinoManager</a:t>
              </a:r>
              <a:endParaRPr lang="en-US" altLang="ja-JP" dirty="0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C3F10191-B24C-9FBA-88E9-DE9FC1A6AF6C}"/>
                </a:ext>
              </a:extLst>
            </p:cNvPr>
            <p:cNvSpPr/>
            <p:nvPr/>
          </p:nvSpPr>
          <p:spPr>
            <a:xfrm>
              <a:off x="4117471" y="3851705"/>
              <a:ext cx="2188653" cy="4985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err="1"/>
                <a:t>BoardUpdateState</a:t>
              </a:r>
              <a:endParaRPr lang="en-US" altLang="ja-JP" dirty="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2F0DB6E-E972-FCFA-A8CE-4AF226E9131F}"/>
                </a:ext>
              </a:extLst>
            </p:cNvPr>
            <p:cNvSpPr/>
            <p:nvPr/>
          </p:nvSpPr>
          <p:spPr>
            <a:xfrm>
              <a:off x="3888509" y="2068945"/>
              <a:ext cx="3121891" cy="24224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dirty="0"/>
                <a:t>更新されたゲームの状態</a:t>
              </a:r>
              <a:endParaRPr lang="en-MY" dirty="0"/>
            </a:p>
          </p:txBody>
        </p:sp>
      </p:grp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5D13C94-09E2-340D-F13A-E044A7C96225}"/>
              </a:ext>
            </a:extLst>
          </p:cNvPr>
          <p:cNvSpPr/>
          <p:nvPr/>
        </p:nvSpPr>
        <p:spPr>
          <a:xfrm>
            <a:off x="1685997" y="2584776"/>
            <a:ext cx="3033785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BoardUpdater.update</a:t>
            </a:r>
            <a:r>
              <a:rPr lang="en-MY" altLang="ja-JP" dirty="0"/>
              <a:t>()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C1F5F8B-B901-695C-D677-C1326AC48172}"/>
              </a:ext>
            </a:extLst>
          </p:cNvPr>
          <p:cNvSpPr/>
          <p:nvPr/>
        </p:nvSpPr>
        <p:spPr>
          <a:xfrm>
            <a:off x="7370979" y="2584776"/>
            <a:ext cx="3033785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BoardUpdateCalculator</a:t>
            </a:r>
            <a:endParaRPr lang="en-US" altLang="ja-JP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C0B1543B-A7E1-D79E-047C-916B6A2B37F4}"/>
              </a:ext>
            </a:extLst>
          </p:cNvPr>
          <p:cNvSpPr/>
          <p:nvPr/>
        </p:nvSpPr>
        <p:spPr>
          <a:xfrm>
            <a:off x="2390231" y="1995038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2400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97F2F1D-2A4E-F0DC-F5E4-3C600BF7AD4C}"/>
              </a:ext>
            </a:extLst>
          </p:cNvPr>
          <p:cNvSpPr/>
          <p:nvPr/>
        </p:nvSpPr>
        <p:spPr>
          <a:xfrm>
            <a:off x="3420123" y="1999765"/>
            <a:ext cx="2050293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BoardUpdateDiff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17" name="矢印: 上 16">
            <a:extLst>
              <a:ext uri="{FF2B5EF4-FFF2-40B4-BE49-F238E27FC236}">
                <a16:creationId xmlns:a16="http://schemas.microsoft.com/office/drawing/2014/main" id="{ADC73EE2-EAC4-E31E-BFC8-EC51C57AC7E3}"/>
              </a:ext>
            </a:extLst>
          </p:cNvPr>
          <p:cNvSpPr/>
          <p:nvPr/>
        </p:nvSpPr>
        <p:spPr>
          <a:xfrm>
            <a:off x="2821708" y="1751322"/>
            <a:ext cx="748146" cy="995432"/>
          </a:xfrm>
          <a:prstGeom prst="up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返り値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83342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FE75A7-0B80-9F29-BD43-116B8FE22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G</a:t>
            </a:r>
            <a:r>
              <a:rPr lang="en-MY" dirty="0" err="1"/>
              <a:t>ameController</a:t>
            </a:r>
            <a:r>
              <a:rPr lang="ja-JP" altLang="en-US" dirty="0"/>
              <a:t>の流れ</a:t>
            </a:r>
            <a:r>
              <a:rPr lang="en-MY" altLang="ja-JP" dirty="0"/>
              <a:t>1 </a:t>
            </a:r>
            <a:r>
              <a:rPr lang="ja-JP" altLang="en-US" dirty="0"/>
              <a:t>ミノ生成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EDED180-2405-60C9-8D19-D546D678224D}"/>
              </a:ext>
            </a:extLst>
          </p:cNvPr>
          <p:cNvSpPr/>
          <p:nvPr/>
        </p:nvSpPr>
        <p:spPr>
          <a:xfrm>
            <a:off x="1549937" y="2837477"/>
            <a:ext cx="3043021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GameController.update</a:t>
            </a:r>
            <a:r>
              <a:rPr lang="en-MY" altLang="ja-JP" dirty="0"/>
              <a:t>()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AD84C84-077C-32A8-3441-7F25B426D14C}"/>
              </a:ext>
            </a:extLst>
          </p:cNvPr>
          <p:cNvSpPr/>
          <p:nvPr/>
        </p:nvSpPr>
        <p:spPr>
          <a:xfrm>
            <a:off x="2187068" y="1690688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0C17D556-FC40-DD85-FB56-A17CD4C6E22A}"/>
              </a:ext>
            </a:extLst>
          </p:cNvPr>
          <p:cNvSpPr/>
          <p:nvPr/>
        </p:nvSpPr>
        <p:spPr>
          <a:xfrm>
            <a:off x="2748176" y="2189235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219A61E-0344-E001-2430-F92A2F4CA842}"/>
              </a:ext>
            </a:extLst>
          </p:cNvPr>
          <p:cNvSpPr/>
          <p:nvPr/>
        </p:nvSpPr>
        <p:spPr>
          <a:xfrm>
            <a:off x="8220364" y="2940609"/>
            <a:ext cx="2660073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ControlOrderProvider</a:t>
            </a:r>
            <a:endParaRPr lang="en-MY" altLang="ja-JP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7553C40-853A-6D7C-B365-7DCD3AC112DF}"/>
              </a:ext>
            </a:extLst>
          </p:cNvPr>
          <p:cNvSpPr/>
          <p:nvPr/>
        </p:nvSpPr>
        <p:spPr>
          <a:xfrm>
            <a:off x="4442876" y="2940609"/>
            <a:ext cx="3156168" cy="90166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startNewMinoIfNeeded</a:t>
            </a:r>
            <a:r>
              <a:rPr lang="en-MY" dirty="0">
                <a:solidFill>
                  <a:schemeClr val="bg1"/>
                </a:solidFill>
              </a:rPr>
              <a:t>()</a:t>
            </a:r>
          </a:p>
          <a:p>
            <a:pPr algn="ctr"/>
            <a:r>
              <a:rPr lang="ja-JP" altLang="en-US" dirty="0">
                <a:solidFill>
                  <a:schemeClr val="bg1"/>
                </a:solidFill>
              </a:rPr>
              <a:t>必要なら新しいミノを生成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013AB3C-AF3C-D896-65B2-764F6183C834}"/>
              </a:ext>
            </a:extLst>
          </p:cNvPr>
          <p:cNvSpPr/>
          <p:nvPr/>
        </p:nvSpPr>
        <p:spPr>
          <a:xfrm>
            <a:off x="2187068" y="5514109"/>
            <a:ext cx="3121891" cy="7109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dirty="0"/>
              <a:t>ゲームの状態</a:t>
            </a:r>
            <a:endParaRPr lang="en-MY" altLang="ja-JP" dirty="0"/>
          </a:p>
        </p:txBody>
      </p:sp>
      <p:sp>
        <p:nvSpPr>
          <p:cNvPr id="17" name="矢印: 下 16">
            <a:extLst>
              <a:ext uri="{FF2B5EF4-FFF2-40B4-BE49-F238E27FC236}">
                <a16:creationId xmlns:a16="http://schemas.microsoft.com/office/drawing/2014/main" id="{947129F3-F8DB-AD1C-5755-6C2E1506E0DD}"/>
              </a:ext>
            </a:extLst>
          </p:cNvPr>
          <p:cNvSpPr/>
          <p:nvPr/>
        </p:nvSpPr>
        <p:spPr>
          <a:xfrm>
            <a:off x="4592958" y="3798816"/>
            <a:ext cx="646545" cy="1715293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更新</a:t>
            </a:r>
            <a:endParaRPr lang="en-MY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A6AD3C4-ABE5-44EE-798D-7174EE8BB56B}"/>
              </a:ext>
            </a:extLst>
          </p:cNvPr>
          <p:cNvSpPr/>
          <p:nvPr/>
        </p:nvSpPr>
        <p:spPr>
          <a:xfrm>
            <a:off x="2008379" y="4175793"/>
            <a:ext cx="2126136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</a:t>
            </a:r>
            <a:endParaRPr lang="en-MY" altLang="ja-JP" dirty="0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BBF0EFA5-F529-8DD9-4BB3-576DD284DF7D}"/>
              </a:ext>
            </a:extLst>
          </p:cNvPr>
          <p:cNvSpPr/>
          <p:nvPr/>
        </p:nvSpPr>
        <p:spPr>
          <a:xfrm>
            <a:off x="5852439" y="2583477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2400" dirty="0">
                <a:solidFill>
                  <a:schemeClr val="bg1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269930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CD41B-676A-C719-AF81-26AA45A9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C32966-11AE-0C38-DD1A-EB54FAD90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G</a:t>
            </a:r>
            <a:r>
              <a:rPr lang="en-MY" dirty="0" err="1"/>
              <a:t>ameController</a:t>
            </a:r>
            <a:r>
              <a:rPr lang="ja-JP" altLang="en-US" dirty="0"/>
              <a:t>の流れ</a:t>
            </a:r>
            <a:r>
              <a:rPr lang="en-MY" altLang="ja-JP" dirty="0"/>
              <a:t>2</a:t>
            </a:r>
            <a:r>
              <a:rPr lang="ja-JP" altLang="en-US" dirty="0"/>
              <a:t>　プレイヤー入力を取得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A8B8A70-1CC7-63D8-0E69-292A250507A5}"/>
              </a:ext>
            </a:extLst>
          </p:cNvPr>
          <p:cNvSpPr/>
          <p:nvPr/>
        </p:nvSpPr>
        <p:spPr>
          <a:xfrm>
            <a:off x="1549937" y="2837477"/>
            <a:ext cx="3043021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GameController.update</a:t>
            </a:r>
            <a:r>
              <a:rPr lang="en-MY" altLang="ja-JP" dirty="0"/>
              <a:t>()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6DB6943-2AA2-A91B-D38D-297CEC6EC59A}"/>
              </a:ext>
            </a:extLst>
          </p:cNvPr>
          <p:cNvSpPr/>
          <p:nvPr/>
        </p:nvSpPr>
        <p:spPr>
          <a:xfrm>
            <a:off x="2187068" y="1690688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E8F106D8-2B71-A19E-0EE0-A6D1246883B7}"/>
              </a:ext>
            </a:extLst>
          </p:cNvPr>
          <p:cNvSpPr/>
          <p:nvPr/>
        </p:nvSpPr>
        <p:spPr>
          <a:xfrm>
            <a:off x="2748176" y="2189235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76F5116-DAED-4054-7908-DF6C612D3494}"/>
              </a:ext>
            </a:extLst>
          </p:cNvPr>
          <p:cNvSpPr/>
          <p:nvPr/>
        </p:nvSpPr>
        <p:spPr>
          <a:xfrm>
            <a:off x="6197600" y="2837477"/>
            <a:ext cx="4932218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ControlOrderProvider.provideControlOrder</a:t>
            </a:r>
            <a:r>
              <a:rPr lang="en-MY" altLang="ja-JP" dirty="0"/>
              <a:t>()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C30ECEC-32E1-9774-EF99-9000C226EEBD}"/>
              </a:ext>
            </a:extLst>
          </p:cNvPr>
          <p:cNvSpPr/>
          <p:nvPr/>
        </p:nvSpPr>
        <p:spPr>
          <a:xfrm>
            <a:off x="2187068" y="5514109"/>
            <a:ext cx="3121891" cy="7109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dirty="0"/>
              <a:t>ゲームの状態</a:t>
            </a:r>
            <a:endParaRPr lang="en-MY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71416D33-B7B3-C577-BA07-1B04239E19C7}"/>
              </a:ext>
            </a:extLst>
          </p:cNvPr>
          <p:cNvSpPr/>
          <p:nvPr/>
        </p:nvSpPr>
        <p:spPr>
          <a:xfrm>
            <a:off x="2008379" y="4175793"/>
            <a:ext cx="2126136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</a:t>
            </a:r>
            <a:endParaRPr lang="en-MY" altLang="ja-JP" dirty="0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9B8C80C5-C3CD-CBBC-EE13-850C17077C9C}"/>
              </a:ext>
            </a:extLst>
          </p:cNvPr>
          <p:cNvSpPr/>
          <p:nvPr/>
        </p:nvSpPr>
        <p:spPr>
          <a:xfrm>
            <a:off x="5308959" y="2357962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24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6CFF852F-3FA8-A853-39EE-08D716E6FAE4}"/>
              </a:ext>
            </a:extLst>
          </p:cNvPr>
          <p:cNvSpPr/>
          <p:nvPr/>
        </p:nvSpPr>
        <p:spPr>
          <a:xfrm>
            <a:off x="4554724" y="2775743"/>
            <a:ext cx="1642876" cy="704722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実行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063344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D6A9B-8ED1-309B-8055-CDF177F3F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D97B74-3A7A-FE53-3D2A-B3AC14024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G</a:t>
            </a:r>
            <a:r>
              <a:rPr lang="en-MY" dirty="0" err="1"/>
              <a:t>ameController</a:t>
            </a:r>
            <a:r>
              <a:rPr lang="ja-JP" altLang="en-US" dirty="0"/>
              <a:t>の流れ</a:t>
            </a:r>
            <a:r>
              <a:rPr lang="en-MY" altLang="ja-JP" dirty="0"/>
              <a:t>3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FB87A24-D207-BDE8-F9B9-D294DA087EB6}"/>
              </a:ext>
            </a:extLst>
          </p:cNvPr>
          <p:cNvSpPr/>
          <p:nvPr/>
        </p:nvSpPr>
        <p:spPr>
          <a:xfrm>
            <a:off x="1549937" y="2837477"/>
            <a:ext cx="3043021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GameController.update</a:t>
            </a:r>
            <a:r>
              <a:rPr lang="en-MY" altLang="ja-JP" dirty="0"/>
              <a:t>()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8589D81-D098-F570-60C6-154E419881B4}"/>
              </a:ext>
            </a:extLst>
          </p:cNvPr>
          <p:cNvSpPr/>
          <p:nvPr/>
        </p:nvSpPr>
        <p:spPr>
          <a:xfrm>
            <a:off x="2187068" y="1690688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C488DAEF-A25E-19E4-E3C4-994CC1607256}"/>
              </a:ext>
            </a:extLst>
          </p:cNvPr>
          <p:cNvSpPr/>
          <p:nvPr/>
        </p:nvSpPr>
        <p:spPr>
          <a:xfrm>
            <a:off x="2748176" y="2189235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C2976D5-186A-DCFF-FA88-2BEDF786A4B0}"/>
              </a:ext>
            </a:extLst>
          </p:cNvPr>
          <p:cNvSpPr/>
          <p:nvPr/>
        </p:nvSpPr>
        <p:spPr>
          <a:xfrm>
            <a:off x="6197600" y="2837477"/>
            <a:ext cx="4932218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ControlOrderProvider.provideControlOrder</a:t>
            </a:r>
            <a:r>
              <a:rPr lang="en-MY" altLang="ja-JP" dirty="0"/>
              <a:t>()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9BA27B1-861E-5819-FD9E-1658ADB88099}"/>
              </a:ext>
            </a:extLst>
          </p:cNvPr>
          <p:cNvSpPr/>
          <p:nvPr/>
        </p:nvSpPr>
        <p:spPr>
          <a:xfrm>
            <a:off x="2187068" y="5514109"/>
            <a:ext cx="3121891" cy="7109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dirty="0"/>
              <a:t>ゲームの状態</a:t>
            </a:r>
            <a:endParaRPr lang="en-MY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942715F-C432-D7FE-06FE-D6109621C6CF}"/>
              </a:ext>
            </a:extLst>
          </p:cNvPr>
          <p:cNvSpPr/>
          <p:nvPr/>
        </p:nvSpPr>
        <p:spPr>
          <a:xfrm>
            <a:off x="2008379" y="4175793"/>
            <a:ext cx="2126136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</a:t>
            </a:r>
            <a:endParaRPr lang="en-MY" altLang="ja-JP" dirty="0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EB8D2DE5-09A3-3282-F0B3-C4ABA536DA2E}"/>
              </a:ext>
            </a:extLst>
          </p:cNvPr>
          <p:cNvSpPr/>
          <p:nvPr/>
        </p:nvSpPr>
        <p:spPr>
          <a:xfrm>
            <a:off x="5308959" y="2357962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2400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27F7DEC3-267F-FB1F-2E70-6543E14B73DF}"/>
              </a:ext>
            </a:extLst>
          </p:cNvPr>
          <p:cNvSpPr/>
          <p:nvPr/>
        </p:nvSpPr>
        <p:spPr>
          <a:xfrm flipH="1">
            <a:off x="4354010" y="2850755"/>
            <a:ext cx="2156428" cy="682481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返り値</a:t>
            </a:r>
            <a:endParaRPr lang="en-MY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BDD101B-E2DA-40DC-E0EC-A77C120CB1C6}"/>
              </a:ext>
            </a:extLst>
          </p:cNvPr>
          <p:cNvSpPr/>
          <p:nvPr/>
        </p:nvSpPr>
        <p:spPr>
          <a:xfrm>
            <a:off x="4667865" y="3358755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controlOrder</a:t>
            </a:r>
            <a:endParaRPr lang="en-MY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87386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A9AD7-B6B7-8103-FC20-E04D8E4BE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9EAC2C-7CC8-5C40-925B-E5F08CF67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G</a:t>
            </a:r>
            <a:r>
              <a:rPr lang="en-MY" dirty="0" err="1"/>
              <a:t>ameController</a:t>
            </a:r>
            <a:r>
              <a:rPr lang="ja-JP" altLang="en-US" dirty="0"/>
              <a:t>の流れ</a:t>
            </a:r>
            <a:r>
              <a:rPr lang="en-MY" altLang="ja-JP" dirty="0"/>
              <a:t>3.5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5C67F8-1376-EA56-8F2B-B00E2E7A8608}"/>
              </a:ext>
            </a:extLst>
          </p:cNvPr>
          <p:cNvSpPr/>
          <p:nvPr/>
        </p:nvSpPr>
        <p:spPr>
          <a:xfrm>
            <a:off x="1549937" y="2837477"/>
            <a:ext cx="3043021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GameController.update</a:t>
            </a:r>
            <a:r>
              <a:rPr lang="en-MY" altLang="ja-JP" dirty="0"/>
              <a:t>()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CE8ABE3-DE34-1023-B02F-4088F980363F}"/>
              </a:ext>
            </a:extLst>
          </p:cNvPr>
          <p:cNvSpPr/>
          <p:nvPr/>
        </p:nvSpPr>
        <p:spPr>
          <a:xfrm>
            <a:off x="2187068" y="1690688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94D72B18-9267-5907-5621-9043D031509A}"/>
              </a:ext>
            </a:extLst>
          </p:cNvPr>
          <p:cNvSpPr/>
          <p:nvPr/>
        </p:nvSpPr>
        <p:spPr>
          <a:xfrm>
            <a:off x="2748176" y="2189235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DF9E341-5339-BABA-BFCD-83F0DBB53661}"/>
              </a:ext>
            </a:extLst>
          </p:cNvPr>
          <p:cNvSpPr/>
          <p:nvPr/>
        </p:nvSpPr>
        <p:spPr>
          <a:xfrm>
            <a:off x="6197600" y="2837477"/>
            <a:ext cx="4932218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ControlOrderProvider.advanceTime</a:t>
            </a:r>
            <a:r>
              <a:rPr lang="en-MY" altLang="ja-JP" dirty="0"/>
              <a:t>()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C943839-42AB-5BE4-69FB-C74BFE1AF8A2}"/>
              </a:ext>
            </a:extLst>
          </p:cNvPr>
          <p:cNvSpPr/>
          <p:nvPr/>
        </p:nvSpPr>
        <p:spPr>
          <a:xfrm>
            <a:off x="2187068" y="5514109"/>
            <a:ext cx="3121891" cy="7109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dirty="0"/>
              <a:t>ゲームの状態</a:t>
            </a:r>
            <a:endParaRPr lang="en-MY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51BE547-EC5A-2036-77C7-93DA747C160F}"/>
              </a:ext>
            </a:extLst>
          </p:cNvPr>
          <p:cNvSpPr/>
          <p:nvPr/>
        </p:nvSpPr>
        <p:spPr>
          <a:xfrm>
            <a:off x="2008379" y="4175793"/>
            <a:ext cx="2126136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</a:t>
            </a:r>
            <a:endParaRPr lang="en-MY" altLang="ja-JP" dirty="0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32DE6C15-78BC-B0C3-BF8C-CE584B0A13DF}"/>
              </a:ext>
            </a:extLst>
          </p:cNvPr>
          <p:cNvSpPr/>
          <p:nvPr/>
        </p:nvSpPr>
        <p:spPr>
          <a:xfrm>
            <a:off x="5308959" y="2357962"/>
            <a:ext cx="888641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2400" dirty="0">
                <a:solidFill>
                  <a:schemeClr val="bg1"/>
                </a:solidFill>
              </a:rPr>
              <a:t>3.5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4C2B43C-0581-6CF1-6059-10196E2F55A7}"/>
              </a:ext>
            </a:extLst>
          </p:cNvPr>
          <p:cNvSpPr/>
          <p:nvPr/>
        </p:nvSpPr>
        <p:spPr>
          <a:xfrm>
            <a:off x="2510339" y="3260941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controlOrder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AC01C28C-2056-6692-F171-A3454B29147F}"/>
              </a:ext>
            </a:extLst>
          </p:cNvPr>
          <p:cNvSpPr/>
          <p:nvPr/>
        </p:nvSpPr>
        <p:spPr>
          <a:xfrm>
            <a:off x="4554724" y="2775743"/>
            <a:ext cx="1642876" cy="704722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7A6D2765-90A0-836C-37E4-7E4C85480F6F}"/>
              </a:ext>
            </a:extLst>
          </p:cNvPr>
          <p:cNvSpPr/>
          <p:nvPr/>
        </p:nvSpPr>
        <p:spPr>
          <a:xfrm rot="2108215">
            <a:off x="3820929" y="2343369"/>
            <a:ext cx="1467589" cy="398743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519099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93A38-87CA-486B-0115-CB46F37E3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矢印: 下 9">
            <a:extLst>
              <a:ext uri="{FF2B5EF4-FFF2-40B4-BE49-F238E27FC236}">
                <a16:creationId xmlns:a16="http://schemas.microsoft.com/office/drawing/2014/main" id="{8D1FD962-68AD-1585-4C34-B54D076E0125}"/>
              </a:ext>
            </a:extLst>
          </p:cNvPr>
          <p:cNvSpPr/>
          <p:nvPr/>
        </p:nvSpPr>
        <p:spPr>
          <a:xfrm>
            <a:off x="2346658" y="2136235"/>
            <a:ext cx="646545" cy="2039558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1B56627-5E39-B2D4-3484-D9D15E4B3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G</a:t>
            </a:r>
            <a:r>
              <a:rPr lang="en-MY" dirty="0" err="1"/>
              <a:t>ameController</a:t>
            </a:r>
            <a:r>
              <a:rPr lang="ja-JP" altLang="en-US" dirty="0"/>
              <a:t>の流れ</a:t>
            </a:r>
            <a:r>
              <a:rPr lang="en-MY" altLang="ja-JP" dirty="0"/>
              <a:t>4</a:t>
            </a:r>
            <a:r>
              <a:rPr lang="ja-JP" altLang="en-US" dirty="0"/>
              <a:t>　入力に従ってボード状態を進める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BCD991-AF18-0EDC-1898-3AEF9414FB5D}"/>
              </a:ext>
            </a:extLst>
          </p:cNvPr>
          <p:cNvSpPr/>
          <p:nvPr/>
        </p:nvSpPr>
        <p:spPr>
          <a:xfrm>
            <a:off x="1549937" y="2837477"/>
            <a:ext cx="3043021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GameController.update</a:t>
            </a:r>
            <a:r>
              <a:rPr lang="en-MY" altLang="ja-JP" dirty="0"/>
              <a:t>()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AE63FBD-E48A-9B03-BADA-28A3DB564C75}"/>
              </a:ext>
            </a:extLst>
          </p:cNvPr>
          <p:cNvSpPr/>
          <p:nvPr/>
        </p:nvSpPr>
        <p:spPr>
          <a:xfrm>
            <a:off x="2187068" y="1690688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F7AD7310-78ED-F932-BA91-5320BC856559}"/>
              </a:ext>
            </a:extLst>
          </p:cNvPr>
          <p:cNvSpPr/>
          <p:nvPr/>
        </p:nvSpPr>
        <p:spPr>
          <a:xfrm>
            <a:off x="2748176" y="2189235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DD64A79-DA12-F412-D93A-D9D8AB1394CE}"/>
              </a:ext>
            </a:extLst>
          </p:cNvPr>
          <p:cNvSpPr/>
          <p:nvPr/>
        </p:nvSpPr>
        <p:spPr>
          <a:xfrm>
            <a:off x="2187068" y="5514109"/>
            <a:ext cx="3121891" cy="7109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dirty="0"/>
              <a:t>ゲームの状態</a:t>
            </a:r>
            <a:endParaRPr lang="en-MY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EC0D5A8-3A17-C494-3739-30544FF4ACA0}"/>
              </a:ext>
            </a:extLst>
          </p:cNvPr>
          <p:cNvSpPr/>
          <p:nvPr/>
        </p:nvSpPr>
        <p:spPr>
          <a:xfrm>
            <a:off x="2008379" y="4175793"/>
            <a:ext cx="3200930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BoardUpdater.update</a:t>
            </a:r>
            <a:r>
              <a:rPr lang="en-MY" altLang="ja-JP" dirty="0"/>
              <a:t>()</a:t>
            </a: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BE2F2157-7785-C50C-7AD5-8C03CEDA2C78}"/>
              </a:ext>
            </a:extLst>
          </p:cNvPr>
          <p:cNvSpPr/>
          <p:nvPr/>
        </p:nvSpPr>
        <p:spPr>
          <a:xfrm>
            <a:off x="1859535" y="3533236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24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C905E7-15DD-9470-E69C-FB111BD22E34}"/>
              </a:ext>
            </a:extLst>
          </p:cNvPr>
          <p:cNvSpPr/>
          <p:nvPr/>
        </p:nvSpPr>
        <p:spPr>
          <a:xfrm>
            <a:off x="3708576" y="3533236"/>
            <a:ext cx="2126136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controlOrderFlag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F13B538C-AD4D-6A4B-CBDF-338FFB12036A}"/>
              </a:ext>
            </a:extLst>
          </p:cNvPr>
          <p:cNvSpPr/>
          <p:nvPr/>
        </p:nvSpPr>
        <p:spPr>
          <a:xfrm>
            <a:off x="3218999" y="3397614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98B85F3-B290-5780-9D92-19F1051D7C88}"/>
              </a:ext>
            </a:extLst>
          </p:cNvPr>
          <p:cNvSpPr/>
          <p:nvPr/>
        </p:nvSpPr>
        <p:spPr>
          <a:xfrm>
            <a:off x="8220364" y="2940609"/>
            <a:ext cx="2660073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ControlOrderProvider</a:t>
            </a:r>
            <a:endParaRPr lang="en-MY" altLang="ja-JP" dirty="0"/>
          </a:p>
        </p:txBody>
      </p:sp>
      <p:sp>
        <p:nvSpPr>
          <p:cNvPr id="13" name="矢印: 下 12">
            <a:extLst>
              <a:ext uri="{FF2B5EF4-FFF2-40B4-BE49-F238E27FC236}">
                <a16:creationId xmlns:a16="http://schemas.microsoft.com/office/drawing/2014/main" id="{DE333FCB-3846-DB14-FE36-2485A4D1DF2A}"/>
              </a:ext>
            </a:extLst>
          </p:cNvPr>
          <p:cNvSpPr/>
          <p:nvPr/>
        </p:nvSpPr>
        <p:spPr>
          <a:xfrm>
            <a:off x="3394721" y="4755812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更新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319035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BC723-647F-A76C-47F5-D00FA125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FC151C-1533-5DB0-ACA7-FB2C626FC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G</a:t>
            </a:r>
            <a:r>
              <a:rPr lang="en-MY" dirty="0" err="1"/>
              <a:t>ameController</a:t>
            </a:r>
            <a:r>
              <a:rPr lang="ja-JP" altLang="en-US" dirty="0"/>
              <a:t>の流れ</a:t>
            </a:r>
            <a:r>
              <a:rPr lang="en-MY" altLang="ja-JP" dirty="0"/>
              <a:t>5</a:t>
            </a:r>
            <a:r>
              <a:rPr lang="ja-JP" altLang="en-US" dirty="0"/>
              <a:t>　変更点の情報を受け取る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5837C2B-3C4D-D1A3-17A5-4025D772EE0F}"/>
              </a:ext>
            </a:extLst>
          </p:cNvPr>
          <p:cNvSpPr/>
          <p:nvPr/>
        </p:nvSpPr>
        <p:spPr>
          <a:xfrm>
            <a:off x="1549937" y="2837477"/>
            <a:ext cx="3043021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GameController.update</a:t>
            </a:r>
            <a:r>
              <a:rPr lang="en-MY" altLang="ja-JP" dirty="0"/>
              <a:t>()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5C6FDAF-D911-DF3C-AB29-D4A773240EB7}"/>
              </a:ext>
            </a:extLst>
          </p:cNvPr>
          <p:cNvSpPr/>
          <p:nvPr/>
        </p:nvSpPr>
        <p:spPr>
          <a:xfrm>
            <a:off x="1979249" y="1649559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0F1C8D65-438E-9644-1807-75CB7BA35FBA}"/>
              </a:ext>
            </a:extLst>
          </p:cNvPr>
          <p:cNvSpPr/>
          <p:nvPr/>
        </p:nvSpPr>
        <p:spPr>
          <a:xfrm>
            <a:off x="2748176" y="2189235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1EFD09C-E1A3-2E9F-5518-919F025917A7}"/>
              </a:ext>
            </a:extLst>
          </p:cNvPr>
          <p:cNvSpPr/>
          <p:nvPr/>
        </p:nvSpPr>
        <p:spPr>
          <a:xfrm>
            <a:off x="2187068" y="5514109"/>
            <a:ext cx="3121891" cy="7109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dirty="0"/>
              <a:t>ゲームの状態</a:t>
            </a:r>
            <a:endParaRPr lang="en-MY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043EBAC-12D5-4E10-46F1-E8693723EAEB}"/>
              </a:ext>
            </a:extLst>
          </p:cNvPr>
          <p:cNvSpPr/>
          <p:nvPr/>
        </p:nvSpPr>
        <p:spPr>
          <a:xfrm>
            <a:off x="2008379" y="4175793"/>
            <a:ext cx="3200930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BoardUpdater.update</a:t>
            </a:r>
            <a:r>
              <a:rPr lang="en-MY" altLang="ja-JP" dirty="0"/>
              <a:t>()</a:t>
            </a: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164F908A-511F-9404-6EEA-3EEA9701C39A}"/>
              </a:ext>
            </a:extLst>
          </p:cNvPr>
          <p:cNvSpPr/>
          <p:nvPr/>
        </p:nvSpPr>
        <p:spPr>
          <a:xfrm>
            <a:off x="1859535" y="3533236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2400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AF9E746-BBB3-4CBB-9F7B-E89A13F243BA}"/>
              </a:ext>
            </a:extLst>
          </p:cNvPr>
          <p:cNvSpPr/>
          <p:nvPr/>
        </p:nvSpPr>
        <p:spPr>
          <a:xfrm>
            <a:off x="8220364" y="2940609"/>
            <a:ext cx="2660073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ControlOrderProvider</a:t>
            </a:r>
            <a:endParaRPr lang="en-MY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03F414B-B267-BAB8-E160-A87B8F24FA52}"/>
              </a:ext>
            </a:extLst>
          </p:cNvPr>
          <p:cNvSpPr/>
          <p:nvPr/>
        </p:nvSpPr>
        <p:spPr>
          <a:xfrm>
            <a:off x="3567811" y="3565029"/>
            <a:ext cx="2050293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BoardUpdateDiff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7" name="矢印: 上 6">
            <a:extLst>
              <a:ext uri="{FF2B5EF4-FFF2-40B4-BE49-F238E27FC236}">
                <a16:creationId xmlns:a16="http://schemas.microsoft.com/office/drawing/2014/main" id="{21610C0B-3DF0-4D89-C6E1-D1BE9EF1ADF3}"/>
              </a:ext>
            </a:extLst>
          </p:cNvPr>
          <p:cNvSpPr/>
          <p:nvPr/>
        </p:nvSpPr>
        <p:spPr>
          <a:xfrm>
            <a:off x="2969396" y="3316586"/>
            <a:ext cx="748146" cy="995432"/>
          </a:xfrm>
          <a:prstGeom prst="up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返り値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34825427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DCB13-1B18-F4A4-DF21-B58F085EE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A7DFBC-6B86-766B-6462-AD64035C2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G</a:t>
            </a:r>
            <a:r>
              <a:rPr lang="en-MY" dirty="0" err="1"/>
              <a:t>ameController</a:t>
            </a:r>
            <a:r>
              <a:rPr lang="ja-JP" altLang="en-US" dirty="0"/>
              <a:t>の流れ</a:t>
            </a:r>
            <a:r>
              <a:rPr lang="en-MY" altLang="ja-JP" dirty="0"/>
              <a:t>6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210B784-9F00-C012-3227-1F8EAB37E30D}"/>
              </a:ext>
            </a:extLst>
          </p:cNvPr>
          <p:cNvSpPr/>
          <p:nvPr/>
        </p:nvSpPr>
        <p:spPr>
          <a:xfrm>
            <a:off x="1549937" y="2837477"/>
            <a:ext cx="3043021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GameController.update</a:t>
            </a:r>
            <a:r>
              <a:rPr lang="en-MY" altLang="ja-JP" dirty="0"/>
              <a:t>()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767FF49-FB4D-28A6-7FA2-3CA2984AEB9F}"/>
              </a:ext>
            </a:extLst>
          </p:cNvPr>
          <p:cNvSpPr/>
          <p:nvPr/>
        </p:nvSpPr>
        <p:spPr>
          <a:xfrm>
            <a:off x="1979249" y="1649559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CE056591-1DFA-D7AA-0A6C-DE95C72C3BF7}"/>
              </a:ext>
            </a:extLst>
          </p:cNvPr>
          <p:cNvSpPr/>
          <p:nvPr/>
        </p:nvSpPr>
        <p:spPr>
          <a:xfrm>
            <a:off x="2748176" y="2189235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99E308F-7CC0-364C-5A27-9C30483A4CA4}"/>
              </a:ext>
            </a:extLst>
          </p:cNvPr>
          <p:cNvSpPr/>
          <p:nvPr/>
        </p:nvSpPr>
        <p:spPr>
          <a:xfrm>
            <a:off x="2187068" y="5514109"/>
            <a:ext cx="3121891" cy="7109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dirty="0"/>
              <a:t>ゲームの状態</a:t>
            </a:r>
            <a:endParaRPr lang="en-MY" dirty="0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94EAB346-633C-305D-6672-EAD15BE20EC5}"/>
              </a:ext>
            </a:extLst>
          </p:cNvPr>
          <p:cNvSpPr/>
          <p:nvPr/>
        </p:nvSpPr>
        <p:spPr>
          <a:xfrm>
            <a:off x="4929398" y="2402347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sz="2400" dirty="0">
                <a:solidFill>
                  <a:schemeClr val="bg1"/>
                </a:solidFill>
              </a:rPr>
              <a:t>6</a:t>
            </a:r>
            <a:endParaRPr lang="en-MY" sz="2400" dirty="0">
              <a:solidFill>
                <a:schemeClr val="bg1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7237F0C-5648-8910-6788-4A7060604DF6}"/>
              </a:ext>
            </a:extLst>
          </p:cNvPr>
          <p:cNvSpPr/>
          <p:nvPr/>
        </p:nvSpPr>
        <p:spPr>
          <a:xfrm>
            <a:off x="6605017" y="2888942"/>
            <a:ext cx="4770892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ControlOrderProvider.recieveControlResult</a:t>
            </a:r>
            <a:r>
              <a:rPr lang="en-MY" altLang="ja-JP" dirty="0"/>
              <a:t>()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3B755E0-6E03-A66F-BC91-B7A69655A61B}"/>
              </a:ext>
            </a:extLst>
          </p:cNvPr>
          <p:cNvSpPr/>
          <p:nvPr/>
        </p:nvSpPr>
        <p:spPr>
          <a:xfrm>
            <a:off x="4454371" y="3355314"/>
            <a:ext cx="2050293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BoardUpdateDiff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1A88250-BF20-17D9-AD8E-8D45AFE53A70}"/>
              </a:ext>
            </a:extLst>
          </p:cNvPr>
          <p:cNvSpPr/>
          <p:nvPr/>
        </p:nvSpPr>
        <p:spPr>
          <a:xfrm>
            <a:off x="2008379" y="4175793"/>
            <a:ext cx="2126136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</a:t>
            </a:r>
            <a:endParaRPr lang="en-MY" altLang="ja-JP" dirty="0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F4140636-6476-5D2F-0414-78708562D997}"/>
              </a:ext>
            </a:extLst>
          </p:cNvPr>
          <p:cNvSpPr/>
          <p:nvPr/>
        </p:nvSpPr>
        <p:spPr>
          <a:xfrm>
            <a:off x="4554724" y="2775743"/>
            <a:ext cx="2050293" cy="704722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0" name="吹き出し: 角を丸めた四角形 9">
            <a:extLst>
              <a:ext uri="{FF2B5EF4-FFF2-40B4-BE49-F238E27FC236}">
                <a16:creationId xmlns:a16="http://schemas.microsoft.com/office/drawing/2014/main" id="{75562AD7-4ADB-D289-3041-44638F3F050A}"/>
              </a:ext>
            </a:extLst>
          </p:cNvPr>
          <p:cNvSpPr/>
          <p:nvPr/>
        </p:nvSpPr>
        <p:spPr>
          <a:xfrm>
            <a:off x="7592290" y="3730051"/>
            <a:ext cx="3999346" cy="891483"/>
          </a:xfrm>
          <a:prstGeom prst="wedgeRoundRectCallout">
            <a:avLst>
              <a:gd name="adj1" fmla="val -33658"/>
              <a:gd name="adj2" fmla="val -75911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/>
              <a:t>操作結果によって</a:t>
            </a:r>
            <a:endParaRPr lang="en-MY" altLang="ja-JP" dirty="0"/>
          </a:p>
          <a:p>
            <a:r>
              <a:rPr lang="ja-JP" altLang="en-US" dirty="0"/>
              <a:t>オートリピートを制御したりする</a:t>
            </a:r>
            <a:endParaRPr lang="en-MY" altLang="ja-JP" dirty="0"/>
          </a:p>
        </p:txBody>
      </p:sp>
    </p:spTree>
    <p:extLst>
      <p:ext uri="{BB962C8B-B14F-4D97-AF65-F5344CB8AC3E}">
        <p14:creationId xmlns:p14="http://schemas.microsoft.com/office/powerpoint/2010/main" val="31151073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A3665-8309-9A29-F9A3-8053C55BF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1F8B16-877B-F6C2-A2A4-69055F64C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G</a:t>
            </a:r>
            <a:r>
              <a:rPr lang="en-MY" dirty="0" err="1"/>
              <a:t>ameController</a:t>
            </a:r>
            <a:r>
              <a:rPr lang="ja-JP" altLang="en-US" dirty="0"/>
              <a:t>の流れ</a:t>
            </a:r>
            <a:r>
              <a:rPr lang="en-MY" altLang="ja-JP" dirty="0"/>
              <a:t>7</a:t>
            </a:r>
            <a:r>
              <a:rPr lang="ja-JP" altLang="en-US" dirty="0"/>
              <a:t>　ライン消去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4D8760A-4014-B1DC-DF56-69FAC1C88E29}"/>
              </a:ext>
            </a:extLst>
          </p:cNvPr>
          <p:cNvSpPr/>
          <p:nvPr/>
        </p:nvSpPr>
        <p:spPr>
          <a:xfrm>
            <a:off x="1549937" y="2837477"/>
            <a:ext cx="3043021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GameController.update</a:t>
            </a:r>
            <a:r>
              <a:rPr lang="en-MY" altLang="ja-JP" dirty="0"/>
              <a:t>()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825EE25-8989-CAB9-5A55-48B6907FBC2E}"/>
              </a:ext>
            </a:extLst>
          </p:cNvPr>
          <p:cNvSpPr/>
          <p:nvPr/>
        </p:nvSpPr>
        <p:spPr>
          <a:xfrm>
            <a:off x="1979249" y="1649559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43D202F5-39CA-2E9F-7A1A-1AB22E1307E1}"/>
              </a:ext>
            </a:extLst>
          </p:cNvPr>
          <p:cNvSpPr/>
          <p:nvPr/>
        </p:nvSpPr>
        <p:spPr>
          <a:xfrm>
            <a:off x="2748176" y="2189235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FBB15B5-D56F-4772-7078-059498753617}"/>
              </a:ext>
            </a:extLst>
          </p:cNvPr>
          <p:cNvSpPr/>
          <p:nvPr/>
        </p:nvSpPr>
        <p:spPr>
          <a:xfrm>
            <a:off x="2187068" y="5514109"/>
            <a:ext cx="3121891" cy="7109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dirty="0"/>
              <a:t>ゲームの状態</a:t>
            </a:r>
            <a:endParaRPr lang="en-MY" dirty="0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04019D1A-07B5-4A63-1640-4F966775EB7F}"/>
              </a:ext>
            </a:extLst>
          </p:cNvPr>
          <p:cNvSpPr/>
          <p:nvPr/>
        </p:nvSpPr>
        <p:spPr>
          <a:xfrm>
            <a:off x="5409689" y="3133238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sz="2400" dirty="0">
                <a:solidFill>
                  <a:schemeClr val="bg1"/>
                </a:solidFill>
              </a:rPr>
              <a:t>7</a:t>
            </a:r>
            <a:endParaRPr lang="en-MY" sz="2400" dirty="0">
              <a:solidFill>
                <a:schemeClr val="bg1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59E9274-D5AB-1300-C4FF-241AEF709B40}"/>
              </a:ext>
            </a:extLst>
          </p:cNvPr>
          <p:cNvSpPr/>
          <p:nvPr/>
        </p:nvSpPr>
        <p:spPr>
          <a:xfrm>
            <a:off x="7973771" y="2860349"/>
            <a:ext cx="2668292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ControlOrderProvider</a:t>
            </a:r>
            <a:endParaRPr lang="en-MY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020EA04-E45D-2F70-AA80-ED50DD76FDE8}"/>
              </a:ext>
            </a:extLst>
          </p:cNvPr>
          <p:cNvSpPr/>
          <p:nvPr/>
        </p:nvSpPr>
        <p:spPr>
          <a:xfrm>
            <a:off x="2008379" y="4175793"/>
            <a:ext cx="2126136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</a:t>
            </a:r>
            <a:endParaRPr lang="en-MY" altLang="ja-JP" dirty="0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54F4C38E-6701-20CE-578D-1B1B579B94A8}"/>
              </a:ext>
            </a:extLst>
          </p:cNvPr>
          <p:cNvSpPr/>
          <p:nvPr/>
        </p:nvSpPr>
        <p:spPr>
          <a:xfrm rot="1886536">
            <a:off x="4283812" y="3449225"/>
            <a:ext cx="2050293" cy="704722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実行</a:t>
            </a:r>
            <a:endParaRPr lang="en-MY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E83ED46-86DD-3888-2947-1F5EC034AACD}"/>
              </a:ext>
            </a:extLst>
          </p:cNvPr>
          <p:cNvSpPr/>
          <p:nvPr/>
        </p:nvSpPr>
        <p:spPr>
          <a:xfrm>
            <a:off x="5828806" y="4346230"/>
            <a:ext cx="3217075" cy="83539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LineClearManager.update</a:t>
            </a:r>
            <a:r>
              <a:rPr lang="en-US" altLang="ja-JP" dirty="0"/>
              <a:t>()</a:t>
            </a:r>
          </a:p>
          <a:p>
            <a:pPr algn="ctr"/>
            <a:r>
              <a:rPr lang="ja-JP" altLang="en-US" dirty="0"/>
              <a:t>ライン消去の検知・実行</a:t>
            </a:r>
            <a:endParaRPr lang="en-US" altLang="ja-JP" dirty="0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AD1EC068-31BA-0866-C36C-2DBAF605D7A3}"/>
              </a:ext>
            </a:extLst>
          </p:cNvPr>
          <p:cNvSpPr/>
          <p:nvPr/>
        </p:nvSpPr>
        <p:spPr>
          <a:xfrm rot="19744751" flipH="1">
            <a:off x="4810847" y="5161748"/>
            <a:ext cx="1430981" cy="704722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更新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5572859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6BE28-38D5-AF53-4A0D-27311922A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4FC917-139C-F51C-4A30-8BC05D00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G</a:t>
            </a:r>
            <a:r>
              <a:rPr lang="en-MY" dirty="0" err="1"/>
              <a:t>ameController</a:t>
            </a:r>
            <a:r>
              <a:rPr lang="ja-JP" altLang="en-US" dirty="0"/>
              <a:t>の流れ</a:t>
            </a:r>
            <a:r>
              <a:rPr lang="en-MY" altLang="ja-JP" dirty="0"/>
              <a:t>8</a:t>
            </a:r>
            <a:r>
              <a:rPr lang="ja-JP" altLang="en-US" dirty="0"/>
              <a:t>　ミノ生成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39C882-C45A-03D3-C482-AF0594E8FCAA}"/>
              </a:ext>
            </a:extLst>
          </p:cNvPr>
          <p:cNvSpPr/>
          <p:nvPr/>
        </p:nvSpPr>
        <p:spPr>
          <a:xfrm>
            <a:off x="1549937" y="2837477"/>
            <a:ext cx="3043021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GameController.update</a:t>
            </a:r>
            <a:r>
              <a:rPr lang="en-MY" altLang="ja-JP" dirty="0"/>
              <a:t>()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3E4AD3B-307C-8EE2-4525-A2586A2471F4}"/>
              </a:ext>
            </a:extLst>
          </p:cNvPr>
          <p:cNvSpPr/>
          <p:nvPr/>
        </p:nvSpPr>
        <p:spPr>
          <a:xfrm>
            <a:off x="1979249" y="1649559"/>
            <a:ext cx="1768764" cy="498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deltaTime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3EC83801-F225-F970-87A6-1810E3E7CB2A}"/>
              </a:ext>
            </a:extLst>
          </p:cNvPr>
          <p:cNvSpPr/>
          <p:nvPr/>
        </p:nvSpPr>
        <p:spPr>
          <a:xfrm>
            <a:off x="2748176" y="2189235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000CAB3-9EC1-3727-7F0A-815DE07C1EF9}"/>
              </a:ext>
            </a:extLst>
          </p:cNvPr>
          <p:cNvSpPr/>
          <p:nvPr/>
        </p:nvSpPr>
        <p:spPr>
          <a:xfrm>
            <a:off x="2187068" y="5514109"/>
            <a:ext cx="3121891" cy="7109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dirty="0"/>
              <a:t>ゲームの状態</a:t>
            </a:r>
            <a:endParaRPr lang="en-MY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CE4250F-CEC7-257F-33B3-F0540DB38700}"/>
              </a:ext>
            </a:extLst>
          </p:cNvPr>
          <p:cNvSpPr/>
          <p:nvPr/>
        </p:nvSpPr>
        <p:spPr>
          <a:xfrm>
            <a:off x="7973771" y="2860349"/>
            <a:ext cx="2668292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ControlOrderProvider</a:t>
            </a:r>
            <a:endParaRPr lang="en-MY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DFE5E3F-D5F9-FE04-E054-A72B2F73E68C}"/>
              </a:ext>
            </a:extLst>
          </p:cNvPr>
          <p:cNvSpPr/>
          <p:nvPr/>
        </p:nvSpPr>
        <p:spPr>
          <a:xfrm>
            <a:off x="2008379" y="4175793"/>
            <a:ext cx="2126136" cy="59152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BoardUpdater</a:t>
            </a:r>
            <a:endParaRPr lang="en-MY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A84E443-AEC9-C212-9820-22EBFB5EF1BD}"/>
              </a:ext>
            </a:extLst>
          </p:cNvPr>
          <p:cNvSpPr/>
          <p:nvPr/>
        </p:nvSpPr>
        <p:spPr>
          <a:xfrm>
            <a:off x="4442876" y="3161507"/>
            <a:ext cx="3156168" cy="90166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>
                <a:solidFill>
                  <a:schemeClr val="bg1"/>
                </a:solidFill>
              </a:rPr>
              <a:t>startNewMinoIfNeeded</a:t>
            </a:r>
            <a:r>
              <a:rPr lang="en-MY" dirty="0">
                <a:solidFill>
                  <a:schemeClr val="bg1"/>
                </a:solidFill>
              </a:rPr>
              <a:t>()</a:t>
            </a:r>
          </a:p>
          <a:p>
            <a:pPr algn="ctr"/>
            <a:r>
              <a:rPr lang="ja-JP" altLang="en-US" dirty="0">
                <a:solidFill>
                  <a:schemeClr val="bg1"/>
                </a:solidFill>
              </a:rPr>
              <a:t>必要なら新しいミノを生成</a:t>
            </a:r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87144D7D-6226-F82C-8A5B-E17C9F0869C4}"/>
              </a:ext>
            </a:extLst>
          </p:cNvPr>
          <p:cNvSpPr/>
          <p:nvPr/>
        </p:nvSpPr>
        <p:spPr>
          <a:xfrm>
            <a:off x="5777398" y="2712207"/>
            <a:ext cx="487123" cy="5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sz="2400" dirty="0">
                <a:solidFill>
                  <a:schemeClr val="bg1"/>
                </a:solidFill>
              </a:rPr>
              <a:t>8</a:t>
            </a:r>
            <a:endParaRPr lang="en-MY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5253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C1CB12-CD86-C29E-1C2E-884B9C97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View</a:t>
            </a:r>
            <a:r>
              <a:rPr lang="ja-JP" altLang="en-US" dirty="0"/>
              <a:t>レイヤー　</a:t>
            </a:r>
            <a:r>
              <a:rPr lang="en-MY" altLang="ja-JP" dirty="0"/>
              <a:t>viewmechanics.js</a:t>
            </a:r>
            <a:endParaRPr lang="en-MY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A8E02D-C38E-86DA-EAAE-42C53A2B6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ja-JP" altLang="en-US" dirty="0"/>
              <a:t>セルの色やスキンの基礎クラスを定義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5524846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8D1B06-288B-56A6-7D08-1F64F6BAB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スキン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84271F7-29C5-CFA4-8898-C142900988F1}"/>
              </a:ext>
            </a:extLst>
          </p:cNvPr>
          <p:cNvSpPr/>
          <p:nvPr/>
        </p:nvSpPr>
        <p:spPr>
          <a:xfrm>
            <a:off x="409073" y="2633733"/>
            <a:ext cx="3073035" cy="63038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>
                <a:solidFill>
                  <a:schemeClr val="bg1"/>
                </a:solidFill>
              </a:rPr>
              <a:t>cellImgSkins</a:t>
            </a:r>
            <a:r>
              <a:rPr lang="en-MY" altLang="ja-JP" dirty="0">
                <a:solidFill>
                  <a:schemeClr val="bg1"/>
                </a:solidFill>
              </a:rPr>
              <a:t> string[]</a:t>
            </a:r>
          </a:p>
          <a:p>
            <a:pPr algn="ctr"/>
            <a:r>
              <a:rPr lang="ja-JP" altLang="en-US" dirty="0">
                <a:solidFill>
                  <a:schemeClr val="bg1"/>
                </a:solidFill>
              </a:rPr>
              <a:t>画像を使うタイプのスキン</a:t>
            </a:r>
            <a:endParaRPr lang="en-MY" altLang="ja-JP" dirty="0">
              <a:solidFill>
                <a:schemeClr val="bg1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6D684A4-937C-3C76-65A5-F145BE6C2521}"/>
              </a:ext>
            </a:extLst>
          </p:cNvPr>
          <p:cNvSpPr/>
          <p:nvPr/>
        </p:nvSpPr>
        <p:spPr>
          <a:xfrm>
            <a:off x="409072" y="4920672"/>
            <a:ext cx="3073035" cy="106680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>
                <a:solidFill>
                  <a:schemeClr val="bg1"/>
                </a:solidFill>
              </a:rPr>
              <a:t>cellGraphicSkins</a:t>
            </a:r>
            <a:r>
              <a:rPr lang="en-MY" altLang="ja-JP" dirty="0">
                <a:solidFill>
                  <a:schemeClr val="bg1"/>
                </a:solidFill>
              </a:rPr>
              <a:t> string[]</a:t>
            </a:r>
          </a:p>
          <a:p>
            <a:pPr algn="ctr"/>
            <a:r>
              <a:rPr lang="ja-JP" altLang="en-US" dirty="0">
                <a:solidFill>
                  <a:schemeClr val="bg1"/>
                </a:solidFill>
              </a:rPr>
              <a:t>実行時にレンダリングするタイプのスキン</a:t>
            </a:r>
            <a:endParaRPr lang="en-MY" altLang="ja-JP" dirty="0">
              <a:solidFill>
                <a:schemeClr val="bg1"/>
              </a:solidFill>
            </a:endParaRPr>
          </a:p>
        </p:txBody>
      </p:sp>
      <p:sp>
        <p:nvSpPr>
          <p:cNvPr id="6" name="左中かっこ 5">
            <a:extLst>
              <a:ext uri="{FF2B5EF4-FFF2-40B4-BE49-F238E27FC236}">
                <a16:creationId xmlns:a16="http://schemas.microsoft.com/office/drawing/2014/main" id="{3ACE3EF5-F116-B52C-EC68-93AC6B66A482}"/>
              </a:ext>
            </a:extLst>
          </p:cNvPr>
          <p:cNvSpPr/>
          <p:nvPr/>
        </p:nvSpPr>
        <p:spPr>
          <a:xfrm>
            <a:off x="3685308" y="1923687"/>
            <a:ext cx="544946" cy="2050474"/>
          </a:xfrm>
          <a:prstGeom prst="leftBrace">
            <a:avLst>
              <a:gd name="adj1" fmla="val 37146"/>
              <a:gd name="adj2" fmla="val 4864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A1761B3-0A20-FD75-46E8-70DAAD0CD0E4}"/>
              </a:ext>
            </a:extLst>
          </p:cNvPr>
          <p:cNvSpPr/>
          <p:nvPr/>
        </p:nvSpPr>
        <p:spPr>
          <a:xfrm>
            <a:off x="4230254" y="3429000"/>
            <a:ext cx="3073035" cy="12211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>
                <a:solidFill>
                  <a:schemeClr val="bg1"/>
                </a:solidFill>
              </a:rPr>
              <a:t>cellImgSkins_fromSheet</a:t>
            </a:r>
            <a:r>
              <a:rPr lang="en-MY" altLang="ja-JP" dirty="0">
                <a:solidFill>
                  <a:schemeClr val="bg1"/>
                </a:solidFill>
              </a:rPr>
              <a:t> string[]</a:t>
            </a:r>
          </a:p>
          <a:p>
            <a:pPr algn="ctr"/>
            <a:r>
              <a:rPr lang="ja-JP" altLang="en-US" dirty="0">
                <a:solidFill>
                  <a:schemeClr val="bg1"/>
                </a:solidFill>
              </a:rPr>
              <a:t>シート画像を読み込む</a:t>
            </a:r>
            <a:endParaRPr lang="en-MY" altLang="ja-JP" dirty="0">
              <a:solidFill>
                <a:schemeClr val="bg1"/>
              </a:solidFill>
            </a:endParaRPr>
          </a:p>
          <a:p>
            <a:pPr algn="ctr"/>
            <a:r>
              <a:rPr lang="ja-JP" altLang="en-US" dirty="0">
                <a:solidFill>
                  <a:schemeClr val="bg1"/>
                </a:solidFill>
              </a:rPr>
              <a:t>タイプのスキン</a:t>
            </a:r>
            <a:endParaRPr lang="en-MY" altLang="ja-JP" dirty="0">
              <a:solidFill>
                <a:schemeClr val="bg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45E6C64-9B3F-1DFF-893C-7A37F6F91104}"/>
              </a:ext>
            </a:extLst>
          </p:cNvPr>
          <p:cNvSpPr/>
          <p:nvPr/>
        </p:nvSpPr>
        <p:spPr>
          <a:xfrm>
            <a:off x="4230254" y="1241872"/>
            <a:ext cx="3073035" cy="151110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>
                <a:solidFill>
                  <a:schemeClr val="bg1"/>
                </a:solidFill>
              </a:rPr>
              <a:t>cellImgSkins_from</a:t>
            </a:r>
            <a:r>
              <a:rPr lang="en-US" altLang="ja-JP" dirty="0" err="1">
                <a:solidFill>
                  <a:schemeClr val="bg1"/>
                </a:solidFill>
              </a:rPr>
              <a:t>Imgs</a:t>
            </a:r>
            <a:r>
              <a:rPr lang="en-MY" altLang="ja-JP" dirty="0">
                <a:solidFill>
                  <a:schemeClr val="bg1"/>
                </a:solidFill>
              </a:rPr>
              <a:t> string[]</a:t>
            </a:r>
          </a:p>
          <a:p>
            <a:pPr algn="ctr"/>
            <a:r>
              <a:rPr lang="ja-JP" altLang="en-US" dirty="0">
                <a:solidFill>
                  <a:schemeClr val="bg1"/>
                </a:solidFill>
              </a:rPr>
              <a:t>シート画像をセルそれぞれの画像から作成する</a:t>
            </a:r>
            <a:endParaRPr lang="en-MY" altLang="ja-JP" dirty="0">
              <a:solidFill>
                <a:schemeClr val="bg1"/>
              </a:solidFill>
            </a:endParaRPr>
          </a:p>
          <a:p>
            <a:pPr algn="ctr"/>
            <a:r>
              <a:rPr lang="ja-JP" altLang="en-US" dirty="0">
                <a:solidFill>
                  <a:schemeClr val="bg1"/>
                </a:solidFill>
              </a:rPr>
              <a:t>タイプのスキン</a:t>
            </a:r>
            <a:endParaRPr lang="en-MY" altLang="ja-JP" dirty="0">
              <a:solidFill>
                <a:schemeClr val="bg1"/>
              </a:solidFill>
            </a:endParaRPr>
          </a:p>
        </p:txBody>
      </p:sp>
      <p:sp>
        <p:nvSpPr>
          <p:cNvPr id="9" name="吹き出し: 角を丸めた四角形 8">
            <a:extLst>
              <a:ext uri="{FF2B5EF4-FFF2-40B4-BE49-F238E27FC236}">
                <a16:creationId xmlns:a16="http://schemas.microsoft.com/office/drawing/2014/main" id="{14634C6D-E9D7-8C3C-99C1-DF8B98F645BE}"/>
              </a:ext>
            </a:extLst>
          </p:cNvPr>
          <p:cNvSpPr/>
          <p:nvPr/>
        </p:nvSpPr>
        <p:spPr>
          <a:xfrm>
            <a:off x="7622308" y="1601322"/>
            <a:ext cx="2475346" cy="647373"/>
          </a:xfrm>
          <a:prstGeom prst="wedgeRoundRectCallout">
            <a:avLst>
              <a:gd name="adj1" fmla="val -61906"/>
              <a:gd name="adj2" fmla="val 23960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/>
              <a:t>非効率なので非推奨</a:t>
            </a:r>
            <a:endParaRPr lang="en-MY" altLang="ja-JP" dirty="0"/>
          </a:p>
        </p:txBody>
      </p:sp>
      <p:sp>
        <p:nvSpPr>
          <p:cNvPr id="15" name="矢印: 下 14">
            <a:extLst>
              <a:ext uri="{FF2B5EF4-FFF2-40B4-BE49-F238E27FC236}">
                <a16:creationId xmlns:a16="http://schemas.microsoft.com/office/drawing/2014/main" id="{458715AB-C748-98DA-CB1A-997D6E6530D7}"/>
              </a:ext>
            </a:extLst>
          </p:cNvPr>
          <p:cNvSpPr/>
          <p:nvPr/>
        </p:nvSpPr>
        <p:spPr>
          <a:xfrm rot="3094708">
            <a:off x="8611317" y="4883972"/>
            <a:ext cx="646545" cy="95396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生成</a:t>
            </a:r>
            <a:endParaRPr lang="en-MY" dirty="0"/>
          </a:p>
        </p:txBody>
      </p:sp>
      <p:sp>
        <p:nvSpPr>
          <p:cNvPr id="16" name="吹き出し: 角を丸めた四角形 15">
            <a:extLst>
              <a:ext uri="{FF2B5EF4-FFF2-40B4-BE49-F238E27FC236}">
                <a16:creationId xmlns:a16="http://schemas.microsoft.com/office/drawing/2014/main" id="{CC40FECA-615B-B0F3-BD9C-BC111A293618}"/>
              </a:ext>
            </a:extLst>
          </p:cNvPr>
          <p:cNvSpPr/>
          <p:nvPr/>
        </p:nvSpPr>
        <p:spPr>
          <a:xfrm>
            <a:off x="7353353" y="3717823"/>
            <a:ext cx="2290619" cy="891483"/>
          </a:xfrm>
          <a:prstGeom prst="wedgeRoundRectCallout">
            <a:avLst>
              <a:gd name="adj1" fmla="val -55141"/>
              <a:gd name="adj2" fmla="val 104366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/>
              <a:t>フレームを追加し</a:t>
            </a:r>
            <a:endParaRPr lang="en-MY" altLang="ja-JP" dirty="0"/>
          </a:p>
          <a:p>
            <a:r>
              <a:rPr lang="ja-JP" altLang="en-US" dirty="0"/>
              <a:t>使用可能にする</a:t>
            </a:r>
            <a:endParaRPr lang="en-MY" altLang="ja-JP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F62A39A-4DE6-8C90-B6DC-276E30BEB10B}"/>
              </a:ext>
            </a:extLst>
          </p:cNvPr>
          <p:cNvSpPr/>
          <p:nvPr/>
        </p:nvSpPr>
        <p:spPr>
          <a:xfrm>
            <a:off x="3835770" y="5474532"/>
            <a:ext cx="4790998" cy="82434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CellSheetParent</a:t>
            </a:r>
            <a:endParaRPr lang="en-US" altLang="ja-JP" dirty="0"/>
          </a:p>
          <a:p>
            <a:pPr algn="ctr"/>
            <a:r>
              <a:rPr lang="ja-JP" altLang="en-US" dirty="0"/>
              <a:t>用いる</a:t>
            </a:r>
            <a:r>
              <a:rPr lang="en-MY" altLang="ja-JP" dirty="0" err="1"/>
              <a:t>CellSheetParent</a:t>
            </a:r>
            <a:r>
              <a:rPr lang="ja-JP" altLang="en-US" dirty="0"/>
              <a:t>（ゲームスキン）</a:t>
            </a:r>
            <a:endParaRPr lang="en-US" altLang="ja-JP" dirty="0"/>
          </a:p>
        </p:txBody>
      </p:sp>
      <p:sp>
        <p:nvSpPr>
          <p:cNvPr id="21" name="矢印: 上 20">
            <a:extLst>
              <a:ext uri="{FF2B5EF4-FFF2-40B4-BE49-F238E27FC236}">
                <a16:creationId xmlns:a16="http://schemas.microsoft.com/office/drawing/2014/main" id="{A43EA4BE-5012-3D2C-F329-12DA9412B312}"/>
              </a:ext>
            </a:extLst>
          </p:cNvPr>
          <p:cNvSpPr/>
          <p:nvPr/>
        </p:nvSpPr>
        <p:spPr>
          <a:xfrm>
            <a:off x="6012873" y="4650186"/>
            <a:ext cx="572654" cy="824346"/>
          </a:xfrm>
          <a:prstGeom prst="up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参照</a:t>
            </a:r>
            <a:endParaRPr lang="en-MY" dirty="0"/>
          </a:p>
        </p:txBody>
      </p:sp>
      <p:sp>
        <p:nvSpPr>
          <p:cNvPr id="23" name="矢印: 上 22">
            <a:extLst>
              <a:ext uri="{FF2B5EF4-FFF2-40B4-BE49-F238E27FC236}">
                <a16:creationId xmlns:a16="http://schemas.microsoft.com/office/drawing/2014/main" id="{ACC25BC9-2F83-7DD0-0DBE-9855D7D557ED}"/>
              </a:ext>
            </a:extLst>
          </p:cNvPr>
          <p:cNvSpPr/>
          <p:nvPr/>
        </p:nvSpPr>
        <p:spPr>
          <a:xfrm>
            <a:off x="6803189" y="4650186"/>
            <a:ext cx="572654" cy="824346"/>
          </a:xfrm>
          <a:prstGeom prst="up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処理</a:t>
            </a:r>
            <a:endParaRPr lang="en-MY" dirty="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3B2EC735-19DA-37B7-090B-947E5F67EDAB}"/>
              </a:ext>
            </a:extLst>
          </p:cNvPr>
          <p:cNvSpPr/>
          <p:nvPr/>
        </p:nvSpPr>
        <p:spPr>
          <a:xfrm>
            <a:off x="9288979" y="4447059"/>
            <a:ext cx="1491673" cy="661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play.js</a:t>
            </a:r>
          </a:p>
        </p:txBody>
      </p:sp>
    </p:spTree>
    <p:extLst>
      <p:ext uri="{BB962C8B-B14F-4D97-AF65-F5344CB8AC3E}">
        <p14:creationId xmlns:p14="http://schemas.microsoft.com/office/powerpoint/2010/main" val="645128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D45E4C-241E-3630-5FCA-1640EC041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/>
              <a:t>CellViewParams</a:t>
            </a:r>
            <a:endParaRPr lang="en-MY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D4F3273-2049-D51D-3F77-48616B6A5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/>
          <a:lstStyle/>
          <a:p>
            <a:pPr marL="0" indent="0">
              <a:buNone/>
            </a:pPr>
            <a:r>
              <a:rPr lang="ja-JP" altLang="en-US" dirty="0"/>
              <a:t>セルの見た目を決める全ての情報を含んだオブジェクト（型）</a:t>
            </a:r>
            <a:endParaRPr lang="en-MY" altLang="ja-JP" dirty="0"/>
          </a:p>
          <a:p>
            <a:pPr marL="0" indent="0">
              <a:buNone/>
            </a:pPr>
            <a:r>
              <a:rPr lang="en-US" altLang="ja-JP" dirty="0"/>
              <a:t>Cell</a:t>
            </a:r>
            <a:r>
              <a:rPr lang="ja-JP" altLang="en-US" dirty="0"/>
              <a:t>とスキンから生成可能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725DDC1-5B18-780E-FCE7-F925C3EA74D8}"/>
              </a:ext>
            </a:extLst>
          </p:cNvPr>
          <p:cNvSpPr/>
          <p:nvPr/>
        </p:nvSpPr>
        <p:spPr>
          <a:xfrm>
            <a:off x="1914601" y="5561677"/>
            <a:ext cx="3073035" cy="63038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bg1"/>
                </a:solidFill>
              </a:rPr>
              <a:t>CellViewParams</a:t>
            </a:r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73F40-19D7-DEF7-5A70-1BCD9C07E5AF}"/>
              </a:ext>
            </a:extLst>
          </p:cNvPr>
          <p:cNvSpPr/>
          <p:nvPr/>
        </p:nvSpPr>
        <p:spPr>
          <a:xfrm>
            <a:off x="1649054" y="4430222"/>
            <a:ext cx="3604127" cy="63038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bg1"/>
                </a:solidFill>
              </a:rPr>
              <a:t>createCellViewParamsFromCell</a:t>
            </a:r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7C20CCEB-262B-8B57-7812-6742230B5725}"/>
              </a:ext>
            </a:extLst>
          </p:cNvPr>
          <p:cNvSpPr/>
          <p:nvPr/>
        </p:nvSpPr>
        <p:spPr>
          <a:xfrm>
            <a:off x="2631755" y="5060605"/>
            <a:ext cx="1964672" cy="501072"/>
          </a:xfrm>
          <a:prstGeom prst="downArrow">
            <a:avLst>
              <a:gd name="adj1" fmla="val 50000"/>
              <a:gd name="adj2" fmla="val 66590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返り値</a:t>
            </a:r>
            <a:endParaRPr lang="en-MY" dirty="0"/>
          </a:p>
        </p:txBody>
      </p:sp>
      <p:sp>
        <p:nvSpPr>
          <p:cNvPr id="7" name="矢印: 下 6">
            <a:extLst>
              <a:ext uri="{FF2B5EF4-FFF2-40B4-BE49-F238E27FC236}">
                <a16:creationId xmlns:a16="http://schemas.microsoft.com/office/drawing/2014/main" id="{D248280E-00A4-778A-9306-A17725E96A8F}"/>
              </a:ext>
            </a:extLst>
          </p:cNvPr>
          <p:cNvSpPr/>
          <p:nvPr/>
        </p:nvSpPr>
        <p:spPr>
          <a:xfrm>
            <a:off x="3195173" y="3661316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3902A1E-4C69-5D90-1552-23171165BB16}"/>
              </a:ext>
            </a:extLst>
          </p:cNvPr>
          <p:cNvSpPr/>
          <p:nvPr/>
        </p:nvSpPr>
        <p:spPr>
          <a:xfrm>
            <a:off x="2414698" y="3196684"/>
            <a:ext cx="1036419" cy="46463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Cell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EB90E30-9720-C04E-B9E4-E20920559E21}"/>
              </a:ext>
            </a:extLst>
          </p:cNvPr>
          <p:cNvSpPr/>
          <p:nvPr/>
        </p:nvSpPr>
        <p:spPr>
          <a:xfrm>
            <a:off x="3518445" y="3196684"/>
            <a:ext cx="1569819" cy="4646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bg1"/>
                </a:solidFill>
              </a:rPr>
              <a:t>skin string</a:t>
            </a:r>
          </a:p>
        </p:txBody>
      </p:sp>
      <p:sp>
        <p:nvSpPr>
          <p:cNvPr id="12" name="吹き出し: 角を丸めた四角形 11">
            <a:extLst>
              <a:ext uri="{FF2B5EF4-FFF2-40B4-BE49-F238E27FC236}">
                <a16:creationId xmlns:a16="http://schemas.microsoft.com/office/drawing/2014/main" id="{E2630002-9745-C61A-B8FB-0A6FE30D736C}"/>
              </a:ext>
            </a:extLst>
          </p:cNvPr>
          <p:cNvSpPr/>
          <p:nvPr/>
        </p:nvSpPr>
        <p:spPr>
          <a:xfrm>
            <a:off x="5891218" y="5034282"/>
            <a:ext cx="3999346" cy="1269785"/>
          </a:xfrm>
          <a:prstGeom prst="wedgeRoundRectCallout">
            <a:avLst>
              <a:gd name="adj1" fmla="val -71302"/>
              <a:gd name="adj2" fmla="val 15668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/>
              <a:t>・</a:t>
            </a:r>
            <a:r>
              <a:rPr lang="en-MY" altLang="ja-JP" dirty="0" err="1"/>
              <a:t>color</a:t>
            </a:r>
            <a:r>
              <a:rPr lang="en-MY" altLang="ja-JP" dirty="0"/>
              <a:t> {string} </a:t>
            </a:r>
            <a:r>
              <a:rPr lang="ja-JP" altLang="en-US" dirty="0"/>
              <a:t>色</a:t>
            </a:r>
            <a:endParaRPr lang="en-MY" altLang="ja-JP" dirty="0"/>
          </a:p>
          <a:p>
            <a:r>
              <a:rPr lang="ja-JP" altLang="en-US" dirty="0"/>
              <a:t>・</a:t>
            </a:r>
            <a:r>
              <a:rPr lang="en-MY" altLang="ja-JP" dirty="0"/>
              <a:t>skin {string} </a:t>
            </a:r>
            <a:r>
              <a:rPr lang="ja-JP" altLang="en-US" dirty="0"/>
              <a:t>スキン</a:t>
            </a:r>
            <a:endParaRPr lang="en-MY" altLang="ja-JP" dirty="0"/>
          </a:p>
          <a:p>
            <a:r>
              <a:rPr lang="ja-JP" altLang="en-US" dirty="0"/>
              <a:t>・</a:t>
            </a:r>
            <a:r>
              <a:rPr lang="en-MY" altLang="ja-JP" dirty="0"/>
              <a:t>gobi {string} </a:t>
            </a:r>
            <a:r>
              <a:rPr lang="ja-JP" altLang="en-US" dirty="0"/>
              <a:t>状態を表す文字列</a:t>
            </a:r>
            <a:endParaRPr lang="en-MY" altLang="ja-JP" dirty="0"/>
          </a:p>
        </p:txBody>
      </p:sp>
    </p:spTree>
    <p:extLst>
      <p:ext uri="{BB962C8B-B14F-4D97-AF65-F5344CB8AC3E}">
        <p14:creationId xmlns:p14="http://schemas.microsoft.com/office/powerpoint/2010/main" val="25809220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30AF68-EF64-8E4D-461B-253C2C38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/>
              <a:t>CellViewParams</a:t>
            </a:r>
            <a:r>
              <a:rPr lang="ja-JP" altLang="en-US" dirty="0"/>
              <a:t>関連関数群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03120AC-0A25-A360-BFB9-8B83D5FF2E04}"/>
              </a:ext>
            </a:extLst>
          </p:cNvPr>
          <p:cNvSpPr/>
          <p:nvPr/>
        </p:nvSpPr>
        <p:spPr>
          <a:xfrm>
            <a:off x="4105925" y="1886500"/>
            <a:ext cx="3604127" cy="63038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bg1"/>
                </a:solidFill>
              </a:rPr>
              <a:t>generateCellTextureKey</a:t>
            </a:r>
            <a:endParaRPr lang="en-US" altLang="ja-JP" dirty="0">
              <a:solidFill>
                <a:schemeClr val="bg1"/>
              </a:solidFill>
            </a:endParaRPr>
          </a:p>
          <a:p>
            <a:pPr algn="ctr"/>
            <a:r>
              <a:rPr lang="en-US" altLang="ja-JP" dirty="0">
                <a:solidFill>
                  <a:schemeClr val="bg1"/>
                </a:solidFill>
              </a:rPr>
              <a:t>Phaser</a:t>
            </a:r>
            <a:r>
              <a:rPr lang="ja-JP" altLang="en-US" dirty="0">
                <a:solidFill>
                  <a:schemeClr val="bg1"/>
                </a:solidFill>
              </a:rPr>
              <a:t>の</a:t>
            </a:r>
            <a:r>
              <a:rPr lang="en-US" altLang="ja-JP" dirty="0">
                <a:solidFill>
                  <a:schemeClr val="bg1"/>
                </a:solidFill>
              </a:rPr>
              <a:t>Texture</a:t>
            </a:r>
            <a:r>
              <a:rPr lang="ja-JP" altLang="en-US" dirty="0">
                <a:solidFill>
                  <a:schemeClr val="bg1"/>
                </a:solidFill>
              </a:rPr>
              <a:t>の</a:t>
            </a:r>
            <a:r>
              <a:rPr lang="en-MY" altLang="ja-JP" dirty="0">
                <a:solidFill>
                  <a:schemeClr val="bg1"/>
                </a:solidFill>
              </a:rPr>
              <a:t>key</a:t>
            </a:r>
            <a:r>
              <a:rPr lang="ja-JP" altLang="en-US" dirty="0">
                <a:solidFill>
                  <a:schemeClr val="bg1"/>
                </a:solidFill>
              </a:rPr>
              <a:t>を生成</a:t>
            </a:r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B0A16CBE-652E-4A9D-BCEE-D128DA82E8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1400" y="1676632"/>
            <a:ext cx="2708564" cy="102846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ja-JP" altLang="en-US" dirty="0"/>
              <a:t>セル個別画像の</a:t>
            </a:r>
            <a:endParaRPr lang="en-MY" altLang="ja-JP" dirty="0"/>
          </a:p>
          <a:p>
            <a:pPr marL="0" indent="0" algn="ctr">
              <a:buNone/>
            </a:pPr>
            <a:r>
              <a:rPr lang="ja-JP" altLang="en-US" dirty="0"/>
              <a:t>読み込み用</a:t>
            </a:r>
            <a:endParaRPr lang="en-MY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0BBB33-02EF-8241-32E0-ED61AF604E9F}"/>
              </a:ext>
            </a:extLst>
          </p:cNvPr>
          <p:cNvSpPr/>
          <p:nvPr/>
        </p:nvSpPr>
        <p:spPr>
          <a:xfrm>
            <a:off x="7869742" y="1875675"/>
            <a:ext cx="3604127" cy="63038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bg1"/>
                </a:solidFill>
              </a:rPr>
              <a:t>generateCellTextureUrl</a:t>
            </a:r>
            <a:endParaRPr lang="en-US" altLang="ja-JP" dirty="0">
              <a:solidFill>
                <a:schemeClr val="bg1"/>
              </a:solidFill>
            </a:endParaRPr>
          </a:p>
          <a:p>
            <a:pPr algn="ctr"/>
            <a:r>
              <a:rPr lang="ja-JP" altLang="en-US" dirty="0">
                <a:solidFill>
                  <a:schemeClr val="bg1"/>
                </a:solidFill>
              </a:rPr>
              <a:t>読み込み用</a:t>
            </a:r>
            <a:r>
              <a:rPr lang="en-US" altLang="ja-JP" dirty="0" err="1">
                <a:solidFill>
                  <a:schemeClr val="bg1"/>
                </a:solidFill>
              </a:rPr>
              <a:t>Url</a:t>
            </a:r>
            <a:r>
              <a:rPr lang="ja-JP" altLang="en-US" dirty="0">
                <a:solidFill>
                  <a:schemeClr val="bg1"/>
                </a:solidFill>
              </a:rPr>
              <a:t>を生成</a:t>
            </a:r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BA9CE3D0-D17C-8A68-5AF4-EF0A2CBFD402}"/>
              </a:ext>
            </a:extLst>
          </p:cNvPr>
          <p:cNvSpPr txBox="1">
            <a:spLocks/>
          </p:cNvSpPr>
          <p:nvPr/>
        </p:nvSpPr>
        <p:spPr>
          <a:xfrm>
            <a:off x="1041401" y="3978413"/>
            <a:ext cx="2708564" cy="10284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dirty="0"/>
              <a:t>シート画像の</a:t>
            </a:r>
            <a:endParaRPr lang="en-MY" altLang="ja-JP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dirty="0"/>
              <a:t>読み込み用</a:t>
            </a:r>
            <a:endParaRPr lang="en-MY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C022A14-2D0B-ADD9-C5E4-B074FCE1E733}"/>
              </a:ext>
            </a:extLst>
          </p:cNvPr>
          <p:cNvSpPr/>
          <p:nvPr/>
        </p:nvSpPr>
        <p:spPr>
          <a:xfrm>
            <a:off x="4105926" y="4166140"/>
            <a:ext cx="3604127" cy="63038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bg1"/>
                </a:solidFill>
              </a:rPr>
              <a:t>generateCellSheetTextureKey</a:t>
            </a:r>
            <a:endParaRPr lang="en-US" altLang="ja-JP" dirty="0">
              <a:solidFill>
                <a:schemeClr val="bg1"/>
              </a:solidFill>
            </a:endParaRPr>
          </a:p>
          <a:p>
            <a:pPr algn="ctr"/>
            <a:r>
              <a:rPr lang="en-US" altLang="ja-JP" dirty="0">
                <a:solidFill>
                  <a:schemeClr val="bg1"/>
                </a:solidFill>
              </a:rPr>
              <a:t>Phaser</a:t>
            </a:r>
            <a:r>
              <a:rPr lang="ja-JP" altLang="en-US" dirty="0">
                <a:solidFill>
                  <a:schemeClr val="bg1"/>
                </a:solidFill>
              </a:rPr>
              <a:t>の</a:t>
            </a:r>
            <a:r>
              <a:rPr lang="en-US" altLang="ja-JP" dirty="0">
                <a:solidFill>
                  <a:schemeClr val="bg1"/>
                </a:solidFill>
              </a:rPr>
              <a:t>Texture</a:t>
            </a:r>
            <a:r>
              <a:rPr lang="ja-JP" altLang="en-US" dirty="0">
                <a:solidFill>
                  <a:schemeClr val="bg1"/>
                </a:solidFill>
              </a:rPr>
              <a:t>の</a:t>
            </a:r>
            <a:r>
              <a:rPr lang="en-MY" altLang="ja-JP" dirty="0">
                <a:solidFill>
                  <a:schemeClr val="bg1"/>
                </a:solidFill>
              </a:rPr>
              <a:t>key</a:t>
            </a:r>
            <a:r>
              <a:rPr lang="ja-JP" altLang="en-US" dirty="0">
                <a:solidFill>
                  <a:schemeClr val="bg1"/>
                </a:solidFill>
              </a:rPr>
              <a:t>を生成</a:t>
            </a:r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37B3FC3-3028-D2E8-D070-9278E72E7D5A}"/>
              </a:ext>
            </a:extLst>
          </p:cNvPr>
          <p:cNvSpPr/>
          <p:nvPr/>
        </p:nvSpPr>
        <p:spPr>
          <a:xfrm>
            <a:off x="7869742" y="4177454"/>
            <a:ext cx="3604127" cy="63038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bg1"/>
                </a:solidFill>
              </a:rPr>
              <a:t>generateCellSheetTextureUrl</a:t>
            </a:r>
            <a:endParaRPr lang="en-US" altLang="ja-JP" dirty="0">
              <a:solidFill>
                <a:schemeClr val="bg1"/>
              </a:solidFill>
            </a:endParaRPr>
          </a:p>
          <a:p>
            <a:pPr algn="ctr"/>
            <a:r>
              <a:rPr lang="ja-JP" altLang="en-US" dirty="0">
                <a:solidFill>
                  <a:schemeClr val="bg1"/>
                </a:solidFill>
              </a:rPr>
              <a:t>読み込み用</a:t>
            </a:r>
            <a:r>
              <a:rPr lang="en-US" altLang="ja-JP" dirty="0" err="1">
                <a:solidFill>
                  <a:schemeClr val="bg1"/>
                </a:solidFill>
              </a:rPr>
              <a:t>Url</a:t>
            </a:r>
            <a:r>
              <a:rPr lang="ja-JP" altLang="en-US" dirty="0">
                <a:solidFill>
                  <a:schemeClr val="bg1"/>
                </a:solidFill>
              </a:rPr>
              <a:t>を生成</a:t>
            </a:r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AF79679-A7A2-FFBD-9236-98AA214E572B}"/>
              </a:ext>
            </a:extLst>
          </p:cNvPr>
          <p:cNvSpPr/>
          <p:nvPr/>
        </p:nvSpPr>
        <p:spPr>
          <a:xfrm>
            <a:off x="5514774" y="5146465"/>
            <a:ext cx="4390557" cy="63038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bg1"/>
                </a:solidFill>
              </a:rPr>
              <a:t>generateCellSheetTextureFrameKey</a:t>
            </a:r>
            <a:endParaRPr lang="en-US" altLang="ja-JP" dirty="0">
              <a:solidFill>
                <a:schemeClr val="bg1"/>
              </a:solidFill>
            </a:endParaRPr>
          </a:p>
          <a:p>
            <a:pPr algn="ctr"/>
            <a:r>
              <a:rPr lang="en-MY" altLang="ja-JP" dirty="0" err="1">
                <a:solidFill>
                  <a:schemeClr val="bg1"/>
                </a:solidFill>
              </a:rPr>
              <a:t>CellSheetTexture</a:t>
            </a:r>
            <a:r>
              <a:rPr lang="ja-JP" altLang="en-US" dirty="0">
                <a:solidFill>
                  <a:schemeClr val="bg1"/>
                </a:solidFill>
              </a:rPr>
              <a:t>のフレームの</a:t>
            </a:r>
            <a:r>
              <a:rPr lang="en-MY" altLang="ja-JP" dirty="0">
                <a:solidFill>
                  <a:schemeClr val="bg1"/>
                </a:solidFill>
              </a:rPr>
              <a:t>key</a:t>
            </a:r>
            <a:r>
              <a:rPr lang="ja-JP" altLang="en-US" dirty="0">
                <a:solidFill>
                  <a:schemeClr val="bg1"/>
                </a:solidFill>
              </a:rPr>
              <a:t>を生成</a:t>
            </a:r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237A465E-8F7F-5644-82A6-28E3123C459F}"/>
              </a:ext>
            </a:extLst>
          </p:cNvPr>
          <p:cNvSpPr txBox="1">
            <a:spLocks/>
          </p:cNvSpPr>
          <p:nvPr/>
        </p:nvSpPr>
        <p:spPr>
          <a:xfrm>
            <a:off x="838201" y="5216547"/>
            <a:ext cx="4390557" cy="490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dirty="0"/>
              <a:t>シート画像のフレーム</a:t>
            </a:r>
            <a:endParaRPr lang="en-MY" altLang="ja-JP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62AB318-43F6-8436-A1CB-475292B40295}"/>
              </a:ext>
            </a:extLst>
          </p:cNvPr>
          <p:cNvSpPr/>
          <p:nvPr/>
        </p:nvSpPr>
        <p:spPr>
          <a:xfrm>
            <a:off x="5514773" y="2607162"/>
            <a:ext cx="4390557" cy="9690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bg1"/>
                </a:solidFill>
              </a:rPr>
              <a:t>calcSkinCellViewParams</a:t>
            </a:r>
            <a:r>
              <a:rPr lang="en-US" altLang="ja-JP" dirty="0">
                <a:solidFill>
                  <a:schemeClr val="bg1"/>
                </a:solidFill>
              </a:rPr>
              <a:t>(skin)</a:t>
            </a:r>
          </a:p>
          <a:p>
            <a:pPr algn="ctr"/>
            <a:r>
              <a:rPr lang="ja-JP" altLang="en-US" dirty="0">
                <a:solidFill>
                  <a:schemeClr val="bg1"/>
                </a:solidFill>
              </a:rPr>
              <a:t>与えられた</a:t>
            </a:r>
            <a:r>
              <a:rPr lang="en-MY" altLang="ja-JP" dirty="0">
                <a:solidFill>
                  <a:schemeClr val="bg1"/>
                </a:solidFill>
              </a:rPr>
              <a:t>skin</a:t>
            </a:r>
            <a:r>
              <a:rPr lang="ja-JP" altLang="en-US" dirty="0">
                <a:solidFill>
                  <a:schemeClr val="bg1"/>
                </a:solidFill>
              </a:rPr>
              <a:t>の中で有り得る全ての表示される</a:t>
            </a:r>
            <a:r>
              <a:rPr lang="en-US" altLang="ja-JP" dirty="0" err="1">
                <a:solidFill>
                  <a:schemeClr val="bg1"/>
                </a:solidFill>
              </a:rPr>
              <a:t>CellViewParams</a:t>
            </a:r>
            <a:r>
              <a:rPr lang="ja-JP" altLang="en-US" dirty="0">
                <a:solidFill>
                  <a:schemeClr val="bg1"/>
                </a:solidFill>
              </a:rPr>
              <a:t>を読み込み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44620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DE9FFA-7AE0-0340-B280-81A5CDC7E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view</a:t>
            </a:r>
            <a:r>
              <a:rPr lang="ja-JP" altLang="en-US" dirty="0"/>
              <a:t>レイヤー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24DB98-1D29-6CFC-3118-B7E057A0E875}"/>
              </a:ext>
            </a:extLst>
          </p:cNvPr>
          <p:cNvSpPr/>
          <p:nvPr/>
        </p:nvSpPr>
        <p:spPr>
          <a:xfrm>
            <a:off x="1305002" y="1872350"/>
            <a:ext cx="4181398" cy="82434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ViewController</a:t>
            </a:r>
            <a:endParaRPr lang="en-US" altLang="ja-JP" dirty="0"/>
          </a:p>
          <a:p>
            <a:pPr algn="ctr"/>
            <a:r>
              <a:rPr lang="ja-JP" altLang="en-US" dirty="0"/>
              <a:t>いちゲームの表示担当</a:t>
            </a:r>
            <a:endParaRPr lang="en-MY" altLang="ja-JP" dirty="0"/>
          </a:p>
          <a:p>
            <a:pPr algn="ctr"/>
            <a:r>
              <a:rPr lang="ja-JP" altLang="en-US" dirty="0"/>
              <a:t>各ビューの生成・更新</a:t>
            </a:r>
            <a:endParaRPr lang="en-US" altLang="ja-JP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4CE449F-D9F0-ED8A-AABB-6C16A86D4439}"/>
              </a:ext>
            </a:extLst>
          </p:cNvPr>
          <p:cNvSpPr/>
          <p:nvPr/>
        </p:nvSpPr>
        <p:spPr>
          <a:xfrm>
            <a:off x="1305001" y="2878358"/>
            <a:ext cx="3756525" cy="82434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BoardView</a:t>
            </a:r>
            <a:endParaRPr lang="en-US" altLang="ja-JP" dirty="0"/>
          </a:p>
          <a:p>
            <a:pPr algn="ctr"/>
            <a:r>
              <a:rPr lang="ja-JP" altLang="en-US" dirty="0"/>
              <a:t>セルの描画を担当</a:t>
            </a:r>
            <a:endParaRPr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902940C-F957-E2C0-D89C-D8B6EE3D73DE}"/>
              </a:ext>
            </a:extLst>
          </p:cNvPr>
          <p:cNvSpPr/>
          <p:nvPr/>
        </p:nvSpPr>
        <p:spPr>
          <a:xfrm>
            <a:off x="5252213" y="2878358"/>
            <a:ext cx="4778478" cy="82434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BoardDeco</a:t>
            </a:r>
            <a:endParaRPr lang="en-US" altLang="ja-JP" dirty="0"/>
          </a:p>
          <a:p>
            <a:pPr algn="ctr"/>
            <a:r>
              <a:rPr lang="ja-JP" altLang="en-US" dirty="0"/>
              <a:t>セル以外のボード（装飾）の描画を担当</a:t>
            </a:r>
            <a:endParaRPr lang="en-US" altLang="ja-JP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17FF665-1FE7-3420-4847-49A0CDA4B2BD}"/>
              </a:ext>
            </a:extLst>
          </p:cNvPr>
          <p:cNvSpPr/>
          <p:nvPr/>
        </p:nvSpPr>
        <p:spPr>
          <a:xfrm>
            <a:off x="5252213" y="3838184"/>
            <a:ext cx="3368599" cy="82434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MinoQueueView</a:t>
            </a:r>
            <a:endParaRPr lang="en-US" altLang="ja-JP" dirty="0"/>
          </a:p>
          <a:p>
            <a:pPr algn="ctr"/>
            <a:r>
              <a:rPr lang="ja-JP" altLang="en-US" dirty="0"/>
              <a:t>ミノキューの描画を担当</a:t>
            </a:r>
            <a:endParaRPr lang="en-US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8F0E17-9435-EDCA-0D85-E2D01DB9B3B4}"/>
              </a:ext>
            </a:extLst>
          </p:cNvPr>
          <p:cNvSpPr/>
          <p:nvPr/>
        </p:nvSpPr>
        <p:spPr>
          <a:xfrm>
            <a:off x="1305001" y="5076093"/>
            <a:ext cx="6084090" cy="692253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CellImage</a:t>
            </a:r>
            <a:r>
              <a:rPr lang="en-US" altLang="ja-JP" dirty="0"/>
              <a:t> extends </a:t>
            </a:r>
            <a:r>
              <a:rPr lang="en-US" altLang="ja-JP" dirty="0" err="1"/>
              <a:t>Phaser.GameObjects.Image</a:t>
            </a:r>
            <a:endParaRPr lang="en-US" altLang="ja-JP" dirty="0"/>
          </a:p>
          <a:p>
            <a:pPr algn="ctr"/>
            <a:r>
              <a:rPr lang="ja-JP" altLang="en-US" dirty="0"/>
              <a:t>セル表示用の</a:t>
            </a:r>
            <a:r>
              <a:rPr lang="en-US" altLang="ja-JP" dirty="0"/>
              <a:t>Image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6601FF4-BD5D-B0D2-84AA-59CE6E2A2EB4}"/>
              </a:ext>
            </a:extLst>
          </p:cNvPr>
          <p:cNvSpPr/>
          <p:nvPr/>
        </p:nvSpPr>
        <p:spPr>
          <a:xfrm>
            <a:off x="1305001" y="5951001"/>
            <a:ext cx="6084090" cy="692253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/>
              <a:t>ImageBoard</a:t>
            </a:r>
            <a:r>
              <a:rPr lang="en-MY" altLang="ja-JP" dirty="0"/>
              <a:t> </a:t>
            </a:r>
            <a:r>
              <a:rPr lang="en-US" altLang="ja-JP" dirty="0" err="1"/>
              <a:t>CellImage</a:t>
            </a:r>
            <a:r>
              <a:rPr lang="ja-JP" altLang="en-US" dirty="0"/>
              <a:t>格納用の</a:t>
            </a:r>
            <a:r>
              <a:rPr lang="en-US" altLang="ja-JP" dirty="0"/>
              <a:t>Board</a:t>
            </a:r>
            <a:r>
              <a:rPr lang="ja-JP" altLang="en-US" dirty="0"/>
              <a:t>　追加機能なし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2760763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067F02-1C78-E8AA-96F6-122C856CD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Infra </a:t>
            </a:r>
            <a:r>
              <a:rPr lang="en-MY" dirty="0" err="1"/>
              <a:t>GameViewContext</a:t>
            </a:r>
            <a:endParaRPr lang="en-MY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3BEFF95-A4D8-691A-F7B2-A335B5D85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ビュー系のクラスに</a:t>
            </a:r>
            <a:r>
              <a:rPr lang="en-MY" altLang="ja-JP" dirty="0" err="1"/>
              <a:t>gameContext</a:t>
            </a:r>
            <a:r>
              <a:rPr lang="ja-JP" altLang="en-US" dirty="0"/>
              <a:t>とビュー関連の情報を渡すためのもの</a:t>
            </a:r>
            <a:endParaRPr lang="en-MY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B4CB7A-0C07-6C54-0257-95D490FEB1C7}"/>
              </a:ext>
            </a:extLst>
          </p:cNvPr>
          <p:cNvSpPr/>
          <p:nvPr/>
        </p:nvSpPr>
        <p:spPr>
          <a:xfrm>
            <a:off x="838200" y="4184073"/>
            <a:ext cx="2161316" cy="828101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/>
              <a:t>gameContext</a:t>
            </a:r>
            <a:endParaRPr lang="en-MY" dirty="0"/>
          </a:p>
          <a:p>
            <a:pPr algn="ctr"/>
            <a:r>
              <a:rPr lang="ja-JP" altLang="en-US" dirty="0"/>
              <a:t>当然必要</a:t>
            </a:r>
            <a:endParaRPr lang="en-MY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16DEFF1-4E91-A1FB-F5FF-FF6E97DD8881}"/>
              </a:ext>
            </a:extLst>
          </p:cNvPr>
          <p:cNvSpPr/>
          <p:nvPr/>
        </p:nvSpPr>
        <p:spPr>
          <a:xfrm>
            <a:off x="3346238" y="4184073"/>
            <a:ext cx="4790998" cy="82434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CellSheetParent</a:t>
            </a:r>
            <a:endParaRPr lang="en-US" altLang="ja-JP" dirty="0"/>
          </a:p>
          <a:p>
            <a:pPr algn="ctr"/>
            <a:r>
              <a:rPr lang="ja-JP" altLang="en-US" dirty="0"/>
              <a:t>用いる</a:t>
            </a:r>
            <a:r>
              <a:rPr lang="en-MY" altLang="ja-JP" dirty="0" err="1"/>
              <a:t>CellSheetParent</a:t>
            </a:r>
            <a:r>
              <a:rPr lang="ja-JP" altLang="en-US" dirty="0"/>
              <a:t>（ゲームスキン）</a:t>
            </a:r>
            <a:endParaRPr lang="en-US" altLang="ja-JP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A5D9A43-F4D3-55E4-E791-AA23B40269D1}"/>
              </a:ext>
            </a:extLst>
          </p:cNvPr>
          <p:cNvSpPr/>
          <p:nvPr/>
        </p:nvSpPr>
        <p:spPr>
          <a:xfrm>
            <a:off x="1568238" y="5238172"/>
            <a:ext cx="4790998" cy="82434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boardContainer</a:t>
            </a:r>
            <a:endParaRPr lang="en-US" altLang="ja-JP" dirty="0"/>
          </a:p>
          <a:p>
            <a:pPr algn="ctr"/>
            <a:r>
              <a:rPr lang="en-MY" altLang="ja-JP" dirty="0" err="1"/>
              <a:t>Phaser.GameObjects.Container</a:t>
            </a:r>
            <a:r>
              <a:rPr lang="ja-JP" altLang="en-US" dirty="0"/>
              <a:t>で、ボード周りのビューを格納する</a:t>
            </a:r>
            <a:endParaRPr lang="en-US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070972A-E488-CB86-3F35-5CC0D20C6FB6}"/>
              </a:ext>
            </a:extLst>
          </p:cNvPr>
          <p:cNvSpPr/>
          <p:nvPr/>
        </p:nvSpPr>
        <p:spPr>
          <a:xfrm>
            <a:off x="6461019" y="5194517"/>
            <a:ext cx="4790998" cy="82434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getRelativeX</a:t>
            </a:r>
            <a:r>
              <a:rPr lang="en-US" altLang="ja-JP" dirty="0"/>
              <a:t> &amp; Y</a:t>
            </a:r>
          </a:p>
          <a:p>
            <a:pPr algn="ctr"/>
            <a:r>
              <a:rPr lang="en-MY" altLang="ja-JP" dirty="0" err="1"/>
              <a:t>boardContainer</a:t>
            </a:r>
            <a:r>
              <a:rPr lang="ja-JP" altLang="en-US" dirty="0"/>
              <a:t>上の座標を取得する便利関数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2605761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CA25D4-61DD-C4AA-0FB7-F57D33401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シーン開始時の</a:t>
            </a:r>
            <a:r>
              <a:rPr lang="en-MY" altLang="ja-JP" dirty="0"/>
              <a:t>view</a:t>
            </a:r>
            <a:r>
              <a:rPr lang="ja-JP" altLang="en-US" dirty="0"/>
              <a:t>の動き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63C611C-1B28-FED7-8D7F-AD6E3859DBA9}"/>
              </a:ext>
            </a:extLst>
          </p:cNvPr>
          <p:cNvSpPr/>
          <p:nvPr/>
        </p:nvSpPr>
        <p:spPr>
          <a:xfrm>
            <a:off x="1777999" y="1690688"/>
            <a:ext cx="2701638" cy="8954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PlayScene.preload</a:t>
            </a:r>
            <a:r>
              <a:rPr lang="en-US" altLang="ja-JP" dirty="0"/>
              <a:t>()</a:t>
            </a:r>
          </a:p>
          <a:p>
            <a:pPr algn="ctr"/>
            <a:r>
              <a:rPr lang="ja-JP" altLang="en-US" dirty="0"/>
              <a:t>リソース読み込み</a:t>
            </a:r>
            <a:endParaRPr lang="en-MY" dirty="0"/>
          </a:p>
        </p:txBody>
      </p: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7E0C7610-63E5-47DA-9A05-2B70214BD051}"/>
              </a:ext>
            </a:extLst>
          </p:cNvPr>
          <p:cNvSpPr/>
          <p:nvPr/>
        </p:nvSpPr>
        <p:spPr>
          <a:xfrm>
            <a:off x="4558145" y="2427004"/>
            <a:ext cx="4886038" cy="891483"/>
          </a:xfrm>
          <a:prstGeom prst="wedgeRoundRectCallout">
            <a:avLst>
              <a:gd name="adj1" fmla="val -72545"/>
              <a:gd name="adj2" fmla="val 6973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/>
              <a:t>それぞれのスキンについて画像を読みこむ</a:t>
            </a:r>
            <a:endParaRPr lang="en-MY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38A75C5-FC80-A4C8-88CF-F395922A989A}"/>
              </a:ext>
            </a:extLst>
          </p:cNvPr>
          <p:cNvSpPr/>
          <p:nvPr/>
        </p:nvSpPr>
        <p:spPr>
          <a:xfrm>
            <a:off x="1570182" y="4008504"/>
            <a:ext cx="3999347" cy="49649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>
                <a:solidFill>
                  <a:schemeClr val="bg1"/>
                </a:solidFill>
              </a:rPr>
              <a:t>cellImgSkins_fromSheet</a:t>
            </a:r>
            <a:r>
              <a:rPr lang="en-MY" altLang="ja-JP" dirty="0">
                <a:solidFill>
                  <a:schemeClr val="bg1"/>
                </a:solidFill>
              </a:rPr>
              <a:t> string[]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76F2757-0FAD-1915-FAD5-939FA35B83F1}"/>
              </a:ext>
            </a:extLst>
          </p:cNvPr>
          <p:cNvSpPr/>
          <p:nvPr/>
        </p:nvSpPr>
        <p:spPr>
          <a:xfrm>
            <a:off x="1570182" y="3415247"/>
            <a:ext cx="3999347" cy="49649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>
                <a:solidFill>
                  <a:schemeClr val="bg1"/>
                </a:solidFill>
              </a:rPr>
              <a:t>cellImgSkins_from</a:t>
            </a:r>
            <a:r>
              <a:rPr lang="en-US" altLang="ja-JP" dirty="0" err="1">
                <a:solidFill>
                  <a:schemeClr val="bg1"/>
                </a:solidFill>
              </a:rPr>
              <a:t>Imgs</a:t>
            </a:r>
            <a:r>
              <a:rPr lang="en-MY" altLang="ja-JP" dirty="0">
                <a:solidFill>
                  <a:schemeClr val="bg1"/>
                </a:solidFill>
              </a:rPr>
              <a:t> string[]</a:t>
            </a: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4A86A6D-D8F8-3534-2C77-08CD532722EF}"/>
              </a:ext>
            </a:extLst>
          </p:cNvPr>
          <p:cNvSpPr/>
          <p:nvPr/>
        </p:nvSpPr>
        <p:spPr>
          <a:xfrm>
            <a:off x="2757055" y="2578537"/>
            <a:ext cx="646545" cy="844354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参照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4320884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9BCE9-A240-9282-F460-F4106D470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CB293F-1AF6-ACB9-2637-5BCAE030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シーン開始時の</a:t>
            </a:r>
            <a:r>
              <a:rPr lang="en-MY" altLang="ja-JP" dirty="0"/>
              <a:t>view</a:t>
            </a:r>
            <a:r>
              <a:rPr lang="ja-JP" altLang="en-US" dirty="0"/>
              <a:t>の動き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1FAE502-B7FE-E3B0-A852-B226B0DA3D73}"/>
              </a:ext>
            </a:extLst>
          </p:cNvPr>
          <p:cNvSpPr/>
          <p:nvPr/>
        </p:nvSpPr>
        <p:spPr>
          <a:xfrm>
            <a:off x="1777999" y="1690689"/>
            <a:ext cx="2701638" cy="565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PlayScene.create</a:t>
            </a:r>
            <a:r>
              <a:rPr lang="en-US" altLang="ja-JP" dirty="0"/>
              <a:t>()</a:t>
            </a:r>
          </a:p>
        </p:txBody>
      </p: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73E95CFF-30A5-76D6-E761-9710F1A6BB67}"/>
              </a:ext>
            </a:extLst>
          </p:cNvPr>
          <p:cNvSpPr/>
          <p:nvPr/>
        </p:nvSpPr>
        <p:spPr>
          <a:xfrm>
            <a:off x="5103091" y="2789382"/>
            <a:ext cx="4424219" cy="1207654"/>
          </a:xfrm>
          <a:prstGeom prst="wedgeRoundRectCallout">
            <a:avLst>
              <a:gd name="adj1" fmla="val -73393"/>
              <a:gd name="adj2" fmla="val -7531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MY" altLang="ja-JP" dirty="0" err="1"/>
              <a:t>cellImgSkins</a:t>
            </a:r>
            <a:r>
              <a:rPr lang="ja-JP" altLang="en-US" dirty="0"/>
              <a:t>全てのスキンについて生成</a:t>
            </a:r>
            <a:endParaRPr lang="en-MY" altLang="ja-JP" dirty="0"/>
          </a:p>
          <a:p>
            <a:r>
              <a:rPr lang="ja-JP" altLang="en-US" dirty="0"/>
              <a:t>このとき差異は吸収されて全て同様に扱えるようになる</a:t>
            </a:r>
            <a:endParaRPr lang="en-MY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D0981FE-9723-1F9E-3B95-D505F58147AD}"/>
              </a:ext>
            </a:extLst>
          </p:cNvPr>
          <p:cNvSpPr/>
          <p:nvPr/>
        </p:nvSpPr>
        <p:spPr>
          <a:xfrm>
            <a:off x="409073" y="2789382"/>
            <a:ext cx="2121691" cy="47473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altLang="ja-JP" dirty="0" err="1">
                <a:solidFill>
                  <a:schemeClr val="bg1"/>
                </a:solidFill>
              </a:rPr>
              <a:t>cellImgSkins</a:t>
            </a:r>
            <a:endParaRPr lang="en-MY" altLang="ja-JP" dirty="0">
              <a:solidFill>
                <a:schemeClr val="bg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4CF9323-0FFC-0C71-FC65-0DEEE38CE520}"/>
              </a:ext>
            </a:extLst>
          </p:cNvPr>
          <p:cNvSpPr/>
          <p:nvPr/>
        </p:nvSpPr>
        <p:spPr>
          <a:xfrm>
            <a:off x="2087419" y="3755252"/>
            <a:ext cx="2789382" cy="56579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CellSheetParent</a:t>
            </a:r>
            <a:endParaRPr lang="en-US" altLang="ja-JP" dirty="0"/>
          </a:p>
        </p:txBody>
      </p:sp>
      <p:sp>
        <p:nvSpPr>
          <p:cNvPr id="9" name="矢印: 下 8">
            <a:extLst>
              <a:ext uri="{FF2B5EF4-FFF2-40B4-BE49-F238E27FC236}">
                <a16:creationId xmlns:a16="http://schemas.microsoft.com/office/drawing/2014/main" id="{13B75361-ED5C-F43A-364B-A24D638E28C0}"/>
              </a:ext>
            </a:extLst>
          </p:cNvPr>
          <p:cNvSpPr/>
          <p:nvPr/>
        </p:nvSpPr>
        <p:spPr>
          <a:xfrm>
            <a:off x="3246581" y="2256479"/>
            <a:ext cx="646545" cy="149877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生成</a:t>
            </a:r>
            <a:endParaRPr lang="en-MY" dirty="0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589C25F5-6636-8F22-6C3E-C4C4F798B5A4}"/>
              </a:ext>
            </a:extLst>
          </p:cNvPr>
          <p:cNvSpPr/>
          <p:nvPr/>
        </p:nvSpPr>
        <p:spPr>
          <a:xfrm rot="1601577">
            <a:off x="2327079" y="2186885"/>
            <a:ext cx="646545" cy="844354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参照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13282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B3728-42B2-2728-FFA0-4C83760C3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A78A52-C648-B564-DE32-0959717D4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シーン開始時の</a:t>
            </a:r>
            <a:r>
              <a:rPr lang="en-MY" altLang="ja-JP" dirty="0"/>
              <a:t>view</a:t>
            </a:r>
            <a:r>
              <a:rPr lang="ja-JP" altLang="en-US" dirty="0"/>
              <a:t>の動き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96935D2-8A4C-57DA-3CE5-F6CD99737D4C}"/>
              </a:ext>
            </a:extLst>
          </p:cNvPr>
          <p:cNvSpPr/>
          <p:nvPr/>
        </p:nvSpPr>
        <p:spPr>
          <a:xfrm>
            <a:off x="1777999" y="1690689"/>
            <a:ext cx="2701638" cy="565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PlayScene.create</a:t>
            </a:r>
            <a:r>
              <a:rPr lang="en-US" altLang="ja-JP" dirty="0"/>
              <a:t>()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84D51C6-C6D7-16B5-978E-8A97E14ECA67}"/>
              </a:ext>
            </a:extLst>
          </p:cNvPr>
          <p:cNvSpPr/>
          <p:nvPr/>
        </p:nvSpPr>
        <p:spPr>
          <a:xfrm>
            <a:off x="5126179" y="3033451"/>
            <a:ext cx="2789384" cy="56579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生成した</a:t>
            </a:r>
            <a:r>
              <a:rPr lang="en-US" altLang="ja-JP" dirty="0" err="1"/>
              <a:t>CellSheetParent</a:t>
            </a:r>
            <a:endParaRPr lang="en-US" altLang="ja-JP" dirty="0"/>
          </a:p>
        </p:txBody>
      </p:sp>
      <p:sp>
        <p:nvSpPr>
          <p:cNvPr id="9" name="矢印: 下 8">
            <a:extLst>
              <a:ext uri="{FF2B5EF4-FFF2-40B4-BE49-F238E27FC236}">
                <a16:creationId xmlns:a16="http://schemas.microsoft.com/office/drawing/2014/main" id="{FE6B058B-11FC-03E7-A138-B7CDC54A7604}"/>
              </a:ext>
            </a:extLst>
          </p:cNvPr>
          <p:cNvSpPr/>
          <p:nvPr/>
        </p:nvSpPr>
        <p:spPr>
          <a:xfrm>
            <a:off x="2598877" y="3722256"/>
            <a:ext cx="646545" cy="212436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生成</a:t>
            </a:r>
            <a:endParaRPr lang="en-MY" dirty="0"/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D81F2279-CB45-D83B-0AE4-58147CC66C5F}"/>
              </a:ext>
            </a:extLst>
          </p:cNvPr>
          <p:cNvSpPr/>
          <p:nvPr/>
        </p:nvSpPr>
        <p:spPr>
          <a:xfrm>
            <a:off x="2957944" y="2256479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実行</a:t>
            </a:r>
            <a:endParaRPr lang="en-MY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AB0CCE5-566F-0742-AEC3-744A564DE3D5}"/>
              </a:ext>
            </a:extLst>
          </p:cNvPr>
          <p:cNvSpPr/>
          <p:nvPr/>
        </p:nvSpPr>
        <p:spPr>
          <a:xfrm>
            <a:off x="1777998" y="3038224"/>
            <a:ext cx="2701637" cy="684032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/>
              <a:t>gameFactory.create</a:t>
            </a:r>
            <a:r>
              <a:rPr lang="en-MY" dirty="0"/>
              <a:t>()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839EACE-C0FB-75E2-D72D-1A8C158C7CAC}"/>
              </a:ext>
            </a:extLst>
          </p:cNvPr>
          <p:cNvSpPr/>
          <p:nvPr/>
        </p:nvSpPr>
        <p:spPr>
          <a:xfrm>
            <a:off x="3616032" y="4504001"/>
            <a:ext cx="2701637" cy="684032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 err="1"/>
              <a:t>GameViewContext</a:t>
            </a:r>
            <a:endParaRPr lang="en-MY" dirty="0"/>
          </a:p>
        </p:txBody>
      </p:sp>
      <p:sp>
        <p:nvSpPr>
          <p:cNvPr id="13" name="矢印: 下 12">
            <a:extLst>
              <a:ext uri="{FF2B5EF4-FFF2-40B4-BE49-F238E27FC236}">
                <a16:creationId xmlns:a16="http://schemas.microsoft.com/office/drawing/2014/main" id="{1A5912D2-2035-8688-C7B4-9623203E66CF}"/>
              </a:ext>
            </a:extLst>
          </p:cNvPr>
          <p:cNvSpPr/>
          <p:nvPr/>
        </p:nvSpPr>
        <p:spPr>
          <a:xfrm>
            <a:off x="3643742" y="3722256"/>
            <a:ext cx="646545" cy="78174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生成</a:t>
            </a:r>
            <a:endParaRPr lang="en-MY" dirty="0"/>
          </a:p>
        </p:txBody>
      </p:sp>
      <p:sp>
        <p:nvSpPr>
          <p:cNvPr id="15" name="矢印: 上 14">
            <a:extLst>
              <a:ext uri="{FF2B5EF4-FFF2-40B4-BE49-F238E27FC236}">
                <a16:creationId xmlns:a16="http://schemas.microsoft.com/office/drawing/2014/main" id="{84AC4C02-A1A6-69A8-3946-2FF394238DC2}"/>
              </a:ext>
            </a:extLst>
          </p:cNvPr>
          <p:cNvSpPr/>
          <p:nvPr/>
        </p:nvSpPr>
        <p:spPr>
          <a:xfrm>
            <a:off x="5678052" y="3592749"/>
            <a:ext cx="538021" cy="911251"/>
          </a:xfrm>
          <a:prstGeom prst="up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含む</a:t>
            </a:r>
            <a:endParaRPr lang="en-MY" dirty="0"/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AEB056DD-9A8D-B9CC-64B1-E1DDF5705BC4}"/>
              </a:ext>
            </a:extLst>
          </p:cNvPr>
          <p:cNvSpPr/>
          <p:nvPr/>
        </p:nvSpPr>
        <p:spPr>
          <a:xfrm>
            <a:off x="3643742" y="5188033"/>
            <a:ext cx="646545" cy="658585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引数</a:t>
            </a:r>
            <a:endParaRPr lang="en-MY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C0CDF84C-1E27-8D3B-655E-EC3C729D1103}"/>
              </a:ext>
            </a:extLst>
          </p:cNvPr>
          <p:cNvSpPr/>
          <p:nvPr/>
        </p:nvSpPr>
        <p:spPr>
          <a:xfrm>
            <a:off x="1737770" y="5872065"/>
            <a:ext cx="2741866" cy="824346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ViewController</a:t>
            </a:r>
            <a:endParaRPr lang="en-US" altLang="ja-JP" dirty="0"/>
          </a:p>
          <a:p>
            <a:pPr algn="ctr"/>
            <a:r>
              <a:rPr lang="ja-JP" altLang="en-US" dirty="0"/>
              <a:t>各ビューの生成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9428371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CB171D-D979-338F-6034-3D36DE5AB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毎フレームの</a:t>
            </a:r>
            <a:r>
              <a:rPr lang="en-MY" altLang="ja-JP" dirty="0"/>
              <a:t>view</a:t>
            </a:r>
            <a:r>
              <a:rPr lang="ja-JP" altLang="en-US" dirty="0"/>
              <a:t>の動き</a:t>
            </a:r>
            <a:endParaRPr lang="en-MY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CF70423-19B2-3203-F45B-BC6B4DE07968}"/>
              </a:ext>
            </a:extLst>
          </p:cNvPr>
          <p:cNvSpPr/>
          <p:nvPr/>
        </p:nvSpPr>
        <p:spPr>
          <a:xfrm>
            <a:off x="955962" y="1579853"/>
            <a:ext cx="2701638" cy="565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PlayScene.update</a:t>
            </a:r>
            <a:r>
              <a:rPr lang="en-US" altLang="ja-JP" dirty="0"/>
              <a:t>()</a:t>
            </a:r>
          </a:p>
        </p:txBody>
      </p:sp>
      <p:sp>
        <p:nvSpPr>
          <p:cNvPr id="5" name="矢印: 下 4">
            <a:extLst>
              <a:ext uri="{FF2B5EF4-FFF2-40B4-BE49-F238E27FC236}">
                <a16:creationId xmlns:a16="http://schemas.microsoft.com/office/drawing/2014/main" id="{FC333BD4-E6AD-AF36-5276-35933F8554BB}"/>
              </a:ext>
            </a:extLst>
          </p:cNvPr>
          <p:cNvSpPr/>
          <p:nvPr/>
        </p:nvSpPr>
        <p:spPr>
          <a:xfrm>
            <a:off x="1983508" y="2145643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実行</a:t>
            </a:r>
            <a:endParaRPr lang="en-MY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0846E6-1C84-B5C6-785E-A5F3F23B4565}"/>
              </a:ext>
            </a:extLst>
          </p:cNvPr>
          <p:cNvSpPr/>
          <p:nvPr/>
        </p:nvSpPr>
        <p:spPr>
          <a:xfrm>
            <a:off x="962888" y="2948198"/>
            <a:ext cx="2741866" cy="56579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ViewController.update</a:t>
            </a:r>
            <a:r>
              <a:rPr lang="en-US" altLang="ja-JP" dirty="0"/>
              <a:t>()</a:t>
            </a:r>
          </a:p>
        </p:txBody>
      </p:sp>
      <p:sp>
        <p:nvSpPr>
          <p:cNvPr id="7" name="矢印: 下 6">
            <a:extLst>
              <a:ext uri="{FF2B5EF4-FFF2-40B4-BE49-F238E27FC236}">
                <a16:creationId xmlns:a16="http://schemas.microsoft.com/office/drawing/2014/main" id="{941617A0-1E95-189E-CB18-BD9465FC0E1D}"/>
              </a:ext>
            </a:extLst>
          </p:cNvPr>
          <p:cNvSpPr/>
          <p:nvPr/>
        </p:nvSpPr>
        <p:spPr>
          <a:xfrm>
            <a:off x="1983508" y="3513988"/>
            <a:ext cx="646545" cy="776972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実行</a:t>
            </a:r>
            <a:endParaRPr lang="en-MY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612E53A-5F76-5D59-4EC6-975E4CCBD2C6}"/>
              </a:ext>
            </a:extLst>
          </p:cNvPr>
          <p:cNvSpPr/>
          <p:nvPr/>
        </p:nvSpPr>
        <p:spPr>
          <a:xfrm>
            <a:off x="962887" y="4290960"/>
            <a:ext cx="3895439" cy="56579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属する各ビューの</a:t>
            </a:r>
            <a:r>
              <a:rPr lang="en-MY" altLang="ja-JP" dirty="0"/>
              <a:t>update()</a:t>
            </a:r>
            <a:endParaRPr lang="en-US" altLang="ja-JP" dirty="0"/>
          </a:p>
        </p:txBody>
      </p:sp>
      <p:sp>
        <p:nvSpPr>
          <p:cNvPr id="10" name="吹き出し: 角を丸めた四角形 9">
            <a:extLst>
              <a:ext uri="{FF2B5EF4-FFF2-40B4-BE49-F238E27FC236}">
                <a16:creationId xmlns:a16="http://schemas.microsoft.com/office/drawing/2014/main" id="{9196D754-AFD7-EE06-4D04-0CFB9E5D0D31}"/>
              </a:ext>
            </a:extLst>
          </p:cNvPr>
          <p:cNvSpPr/>
          <p:nvPr/>
        </p:nvSpPr>
        <p:spPr>
          <a:xfrm>
            <a:off x="6095999" y="3902474"/>
            <a:ext cx="4701309" cy="1269785"/>
          </a:xfrm>
          <a:prstGeom prst="wedgeRoundRectCallout">
            <a:avLst>
              <a:gd name="adj1" fmla="val -71302"/>
              <a:gd name="adj2" fmla="val 15668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/>
              <a:t>更新された必要な情報の参照は</a:t>
            </a:r>
            <a:endParaRPr lang="en-MY" altLang="ja-JP" dirty="0"/>
          </a:p>
          <a:p>
            <a:r>
              <a:rPr lang="ja-JP" altLang="en-US" dirty="0"/>
              <a:t>全て</a:t>
            </a:r>
            <a:r>
              <a:rPr lang="en-MY" altLang="ja-JP" dirty="0" err="1"/>
              <a:t>GameViewContext</a:t>
            </a:r>
            <a:r>
              <a:rPr lang="ja-JP" altLang="en-US" dirty="0"/>
              <a:t>から受け取り済み</a:t>
            </a:r>
            <a:endParaRPr lang="en-MY" altLang="ja-JP" dirty="0"/>
          </a:p>
        </p:txBody>
      </p:sp>
    </p:spTree>
    <p:extLst>
      <p:ext uri="{BB962C8B-B14F-4D97-AF65-F5344CB8AC3E}">
        <p14:creationId xmlns:p14="http://schemas.microsoft.com/office/powerpoint/2010/main" val="558153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269</TotalTime>
  <Words>1190</Words>
  <Application>Microsoft Office PowerPoint</Application>
  <PresentationFormat>ワイド画面</PresentationFormat>
  <Paragraphs>389</Paragraphs>
  <Slides>33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33</vt:i4>
      </vt:variant>
    </vt:vector>
  </HeadingPairs>
  <TitlesOfParts>
    <vt:vector size="37" baseType="lpstr">
      <vt:lpstr>Aptos</vt:lpstr>
      <vt:lpstr>Aptos Display</vt:lpstr>
      <vt:lpstr>Arial</vt:lpstr>
      <vt:lpstr>Office Theme</vt:lpstr>
      <vt:lpstr>Teresourceを理解するDoc</vt:lpstr>
      <vt:lpstr>テリソスが依存するライブラリ</vt:lpstr>
      <vt:lpstr>テリソス全体図</vt:lpstr>
      <vt:lpstr>PlaySceneの構造</vt:lpstr>
      <vt:lpstr>CellとCellBoard</vt:lpstr>
      <vt:lpstr>Minoと関連クラス</vt:lpstr>
      <vt:lpstr>その他のcoreに属するクラス</vt:lpstr>
      <vt:lpstr>infra gameContext</vt:lpstr>
      <vt:lpstr>controlレイヤー</vt:lpstr>
      <vt:lpstr>boardUpdaterの流れ1</vt:lpstr>
      <vt:lpstr>boardUpdaterの流れ2</vt:lpstr>
      <vt:lpstr>boardUpdaterの流れ3</vt:lpstr>
      <vt:lpstr>boardUpdaterの流れ4</vt:lpstr>
      <vt:lpstr>boardUpdaterの流れ5</vt:lpstr>
      <vt:lpstr>GameControllerの流れ1 ミノ生成</vt:lpstr>
      <vt:lpstr>GameControllerの流れ2　プレイヤー入力を取得</vt:lpstr>
      <vt:lpstr>GameControllerの流れ3</vt:lpstr>
      <vt:lpstr>GameControllerの流れ3.5</vt:lpstr>
      <vt:lpstr>GameControllerの流れ4　入力に従ってボード状態を進める</vt:lpstr>
      <vt:lpstr>GameControllerの流れ5　変更点の情報を受け取る</vt:lpstr>
      <vt:lpstr>GameControllerの流れ6</vt:lpstr>
      <vt:lpstr>GameControllerの流れ7　ライン消去</vt:lpstr>
      <vt:lpstr>GameControllerの流れ8　ミノ生成</vt:lpstr>
      <vt:lpstr>Viewレイヤー　viewmechanics.js</vt:lpstr>
      <vt:lpstr>スキン</vt:lpstr>
      <vt:lpstr>CellViewParams</vt:lpstr>
      <vt:lpstr>CellViewParams関連関数群</vt:lpstr>
      <vt:lpstr>viewレイヤー</vt:lpstr>
      <vt:lpstr>Infra GameViewContext</vt:lpstr>
      <vt:lpstr>シーン開始時のviewの動き</vt:lpstr>
      <vt:lpstr>シーン開始時のviewの動き</vt:lpstr>
      <vt:lpstr>シーン開始時のviewの動き</vt:lpstr>
      <vt:lpstr>毎フレームのviewの動き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伊藤 英明_2J07_東京</dc:creator>
  <cp:lastModifiedBy>伊藤 英明_2J07_東京</cp:lastModifiedBy>
  <cp:revision>5</cp:revision>
  <dcterms:created xsi:type="dcterms:W3CDTF">2025-12-30T12:00:42Z</dcterms:created>
  <dcterms:modified xsi:type="dcterms:W3CDTF">2026-01-02T06:38:45Z</dcterms:modified>
</cp:coreProperties>
</file>