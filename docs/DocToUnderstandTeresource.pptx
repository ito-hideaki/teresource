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86534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2183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2679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72860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83327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5198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7001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12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8187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91061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9813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8B1A296-5D1C-4195-9E75-71CD5C074DD6}" type="datetimeFigureOut">
              <a:rPr lang="en-MY" smtClean="0"/>
              <a:t>30/12/2025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E61F42C-A3F3-480F-952A-DE54437FD42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400841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65E77-F2A8-132D-FF8F-580C46309E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 err="1"/>
              <a:t>Teresource</a:t>
            </a:r>
            <a:r>
              <a:rPr lang="ja-JP" altLang="en-US" dirty="0"/>
              <a:t>を理解する</a:t>
            </a:r>
            <a:r>
              <a:rPr lang="en-MY" altLang="ja-JP" dirty="0"/>
              <a:t>Doc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4612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1C2C72-A19F-4089-65A2-BF80CB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テリソスが依存するライブラリ</a:t>
            </a:r>
            <a:endParaRPr lang="en-MY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72128F-9C7A-E196-E8FF-ABBA29E9A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Phaser.js </a:t>
            </a:r>
            <a:r>
              <a:rPr lang="ja-JP" altLang="en-US" dirty="0"/>
              <a:t>ゲーム担当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1995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4F3432-4F5A-4521-3D9C-FE165D3FC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テリソス全体図</a:t>
            </a:r>
            <a:endParaRPr lang="en-MY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3A75AAA-B9D7-BE0E-EC6D-2B1E27BEB886}"/>
              </a:ext>
            </a:extLst>
          </p:cNvPr>
          <p:cNvSpPr/>
          <p:nvPr/>
        </p:nvSpPr>
        <p:spPr>
          <a:xfrm>
            <a:off x="3773054" y="1753468"/>
            <a:ext cx="4017817" cy="895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teresource.js</a:t>
            </a:r>
          </a:p>
          <a:p>
            <a:pPr algn="ctr"/>
            <a:r>
              <a:rPr lang="ja-JP" altLang="en-US" dirty="0"/>
              <a:t>ゲームの初期化</a:t>
            </a:r>
            <a:endParaRPr lang="en-MY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8CD528F-4D86-A5C2-B59A-60DDB976167D}"/>
              </a:ext>
            </a:extLst>
          </p:cNvPr>
          <p:cNvSpPr/>
          <p:nvPr/>
        </p:nvSpPr>
        <p:spPr>
          <a:xfrm>
            <a:off x="3773053" y="4209040"/>
            <a:ext cx="4017817" cy="8954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play.js </a:t>
            </a:r>
          </a:p>
          <a:p>
            <a:pPr algn="ctr"/>
            <a:r>
              <a:rPr lang="en-MY" dirty="0" err="1"/>
              <a:t>PlayScene</a:t>
            </a:r>
            <a:r>
              <a:rPr lang="ja-JP" altLang="en-US" dirty="0"/>
              <a:t>の初期化</a:t>
            </a:r>
            <a:endParaRPr lang="en-MY" dirty="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C843B04-FBCD-13EA-0E3B-098F0DB1547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5781962" y="2648961"/>
            <a:ext cx="1" cy="1560079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39BEE7B-A5C7-AE13-A645-AB3C8BF9CF63}"/>
              </a:ext>
            </a:extLst>
          </p:cNvPr>
          <p:cNvSpPr txBox="1"/>
          <p:nvPr/>
        </p:nvSpPr>
        <p:spPr>
          <a:xfrm>
            <a:off x="5781961" y="32715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読み込み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545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92E678-0DB1-073F-82A4-5A0EFB20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PlayScene</a:t>
            </a:r>
            <a:r>
              <a:rPr lang="ja-JP" altLang="en-US" dirty="0"/>
              <a:t>の構造</a:t>
            </a:r>
            <a:endParaRPr lang="en-MY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DA74AEC-8E46-018F-4E38-4F3A360EE3D5}"/>
              </a:ext>
            </a:extLst>
          </p:cNvPr>
          <p:cNvSpPr/>
          <p:nvPr/>
        </p:nvSpPr>
        <p:spPr>
          <a:xfrm>
            <a:off x="5717307" y="654918"/>
            <a:ext cx="4017817" cy="8976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play.js </a:t>
            </a:r>
          </a:p>
          <a:p>
            <a:pPr algn="ctr"/>
            <a:r>
              <a:rPr lang="en-MY" dirty="0" err="1"/>
              <a:t>PlayScene</a:t>
            </a:r>
            <a:r>
              <a:rPr lang="ja-JP" altLang="en-US" dirty="0"/>
              <a:t>の初期化</a:t>
            </a:r>
            <a:endParaRPr lang="en-MY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9D0039D-3BF3-5AA2-3FCB-C1CE3067DBB1}"/>
              </a:ext>
            </a:extLst>
          </p:cNvPr>
          <p:cNvSpPr/>
          <p:nvPr/>
        </p:nvSpPr>
        <p:spPr>
          <a:xfrm>
            <a:off x="1974636" y="5597382"/>
            <a:ext cx="4017817" cy="89549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core</a:t>
            </a:r>
          </a:p>
          <a:p>
            <a:pPr algn="ctr"/>
            <a:r>
              <a:rPr lang="ja-JP" altLang="en-US" dirty="0"/>
              <a:t>ボードやミノなどの基礎の定義</a:t>
            </a:r>
            <a:endParaRPr lang="en-MY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E1A1BB-4F10-68DB-1BD8-EBD51DC0FC69}"/>
              </a:ext>
            </a:extLst>
          </p:cNvPr>
          <p:cNvSpPr/>
          <p:nvPr/>
        </p:nvSpPr>
        <p:spPr>
          <a:xfrm>
            <a:off x="1560939" y="1907024"/>
            <a:ext cx="3634511" cy="897659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infra</a:t>
            </a:r>
          </a:p>
          <a:p>
            <a:pPr algn="ctr"/>
            <a:r>
              <a:rPr lang="ja-JP" altLang="en-US" dirty="0"/>
              <a:t>構造の生成のために用いる補助的なプログラム</a:t>
            </a:r>
            <a:endParaRPr lang="en-MY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6202C20-CF26-3695-7683-E333DD805D6B}"/>
              </a:ext>
            </a:extLst>
          </p:cNvPr>
          <p:cNvSpPr/>
          <p:nvPr/>
        </p:nvSpPr>
        <p:spPr>
          <a:xfrm>
            <a:off x="1538520" y="3371558"/>
            <a:ext cx="4017817" cy="89549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/>
              <a:t>control</a:t>
            </a:r>
          </a:p>
          <a:p>
            <a:pPr algn="ctr"/>
            <a:r>
              <a:rPr lang="ja-JP" altLang="en-US" dirty="0"/>
              <a:t>ボードやゲームの制御</a:t>
            </a:r>
            <a:endParaRPr lang="en-MY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F5E5C9E-DCEB-571E-110A-1F9033098FEF}"/>
              </a:ext>
            </a:extLst>
          </p:cNvPr>
          <p:cNvSpPr/>
          <p:nvPr/>
        </p:nvSpPr>
        <p:spPr>
          <a:xfrm>
            <a:off x="6143586" y="2214926"/>
            <a:ext cx="4017817" cy="89549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/>
              <a:t>view control</a:t>
            </a:r>
          </a:p>
          <a:p>
            <a:pPr algn="ctr"/>
            <a:r>
              <a:rPr lang="ja-JP" altLang="en-US" dirty="0"/>
              <a:t>見た目の制御</a:t>
            </a:r>
            <a:endParaRPr lang="en-MY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FAA6240-BC1B-8E26-9DDA-861D7E0B1379}"/>
              </a:ext>
            </a:extLst>
          </p:cNvPr>
          <p:cNvSpPr/>
          <p:nvPr/>
        </p:nvSpPr>
        <p:spPr>
          <a:xfrm>
            <a:off x="6271323" y="5597382"/>
            <a:ext cx="4017817" cy="89549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/>
              <a:t>viewmechanics.js</a:t>
            </a:r>
          </a:p>
          <a:p>
            <a:pPr algn="ctr"/>
            <a:r>
              <a:rPr lang="ja-JP" altLang="en-US" dirty="0"/>
              <a:t>見た目の基礎の定義</a:t>
            </a:r>
            <a:endParaRPr lang="en-MY" dirty="0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C88DD038-7AD7-9EA2-F2B1-883FA7E0F4D0}"/>
              </a:ext>
            </a:extLst>
          </p:cNvPr>
          <p:cNvSpPr/>
          <p:nvPr/>
        </p:nvSpPr>
        <p:spPr>
          <a:xfrm rot="20275471" flipH="1">
            <a:off x="4417465" y="1331537"/>
            <a:ext cx="1800165" cy="6368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生成を依頼</a:t>
            </a:r>
            <a:endParaRPr lang="en-MY" dirty="0"/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ABA253BD-4349-468A-BF05-2DC796799BD7}"/>
              </a:ext>
            </a:extLst>
          </p:cNvPr>
          <p:cNvSpPr/>
          <p:nvPr/>
        </p:nvSpPr>
        <p:spPr>
          <a:xfrm>
            <a:off x="4181764" y="2760008"/>
            <a:ext cx="646545" cy="89549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生成</a:t>
            </a:r>
            <a:endParaRPr lang="en-MY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B792A96-8D79-7A7D-18FE-3EBDD59D98AC}"/>
              </a:ext>
            </a:extLst>
          </p:cNvPr>
          <p:cNvSpPr/>
          <p:nvPr/>
        </p:nvSpPr>
        <p:spPr>
          <a:xfrm>
            <a:off x="8645235" y="3747582"/>
            <a:ext cx="2493649" cy="895493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/>
              <a:t>Phaser</a:t>
            </a:r>
            <a:r>
              <a:rPr lang="ja-JP" altLang="en-US" dirty="0"/>
              <a:t>による</a:t>
            </a:r>
            <a:endParaRPr lang="en-MY" altLang="ja-JP" dirty="0"/>
          </a:p>
          <a:p>
            <a:pPr algn="ctr"/>
            <a:r>
              <a:rPr lang="ja-JP" altLang="en-US" dirty="0"/>
              <a:t>見た目の要素</a:t>
            </a:r>
            <a:endParaRPr lang="en-MY" dirty="0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6ED47377-16D1-0840-2D5E-76150AF7D1A3}"/>
              </a:ext>
            </a:extLst>
          </p:cNvPr>
          <p:cNvSpPr/>
          <p:nvPr/>
        </p:nvSpPr>
        <p:spPr>
          <a:xfrm>
            <a:off x="4923458" y="2384143"/>
            <a:ext cx="1492121" cy="6368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生成</a:t>
            </a:r>
            <a:endParaRPr lang="en-MY" dirty="0"/>
          </a:p>
        </p:txBody>
      </p:sp>
      <p:sp>
        <p:nvSpPr>
          <p:cNvPr id="17" name="矢印: 下 16">
            <a:extLst>
              <a:ext uri="{FF2B5EF4-FFF2-40B4-BE49-F238E27FC236}">
                <a16:creationId xmlns:a16="http://schemas.microsoft.com/office/drawing/2014/main" id="{A70083A3-68FC-660D-6607-EF7A74AAD765}"/>
              </a:ext>
            </a:extLst>
          </p:cNvPr>
          <p:cNvSpPr/>
          <p:nvPr/>
        </p:nvSpPr>
        <p:spPr>
          <a:xfrm>
            <a:off x="6604078" y="1459277"/>
            <a:ext cx="646545" cy="895493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更新</a:t>
            </a:r>
            <a:endParaRPr lang="en-MY" dirty="0"/>
          </a:p>
        </p:txBody>
      </p:sp>
      <p:sp>
        <p:nvSpPr>
          <p:cNvPr id="18" name="矢印: 下 17">
            <a:extLst>
              <a:ext uri="{FF2B5EF4-FFF2-40B4-BE49-F238E27FC236}">
                <a16:creationId xmlns:a16="http://schemas.microsoft.com/office/drawing/2014/main" id="{AA7B1153-951E-3AB7-D577-E3723BCD2BC3}"/>
              </a:ext>
            </a:extLst>
          </p:cNvPr>
          <p:cNvSpPr/>
          <p:nvPr/>
        </p:nvSpPr>
        <p:spPr>
          <a:xfrm rot="1364163">
            <a:off x="5669181" y="1368636"/>
            <a:ext cx="646545" cy="2350756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更新</a:t>
            </a:r>
            <a:endParaRPr lang="en-MY" dirty="0"/>
          </a:p>
        </p:txBody>
      </p:sp>
      <p:sp>
        <p:nvSpPr>
          <p:cNvPr id="19" name="矢印: 下 18">
            <a:extLst>
              <a:ext uri="{FF2B5EF4-FFF2-40B4-BE49-F238E27FC236}">
                <a16:creationId xmlns:a16="http://schemas.microsoft.com/office/drawing/2014/main" id="{C1641B46-23DF-CA1C-8F79-D75C6346DC1F}"/>
              </a:ext>
            </a:extLst>
          </p:cNvPr>
          <p:cNvSpPr/>
          <p:nvPr/>
        </p:nvSpPr>
        <p:spPr>
          <a:xfrm>
            <a:off x="8904854" y="2989315"/>
            <a:ext cx="646545" cy="895493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更新</a:t>
            </a:r>
            <a:endParaRPr lang="en-MY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F27461D-6EB3-15EE-8F20-396888AD8F6B}"/>
              </a:ext>
            </a:extLst>
          </p:cNvPr>
          <p:cNvSpPr/>
          <p:nvPr/>
        </p:nvSpPr>
        <p:spPr>
          <a:xfrm>
            <a:off x="4591390" y="4541010"/>
            <a:ext cx="1824189" cy="64878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ゲームの状態</a:t>
            </a:r>
            <a:endParaRPr lang="en-MY" dirty="0"/>
          </a:p>
        </p:txBody>
      </p:sp>
      <p:sp>
        <p:nvSpPr>
          <p:cNvPr id="22" name="矢印: 下 21">
            <a:extLst>
              <a:ext uri="{FF2B5EF4-FFF2-40B4-BE49-F238E27FC236}">
                <a16:creationId xmlns:a16="http://schemas.microsoft.com/office/drawing/2014/main" id="{E8C8D8ED-11AC-DDDA-1B09-7ED2FA5A3BE9}"/>
              </a:ext>
            </a:extLst>
          </p:cNvPr>
          <p:cNvSpPr/>
          <p:nvPr/>
        </p:nvSpPr>
        <p:spPr>
          <a:xfrm>
            <a:off x="5070762" y="3872128"/>
            <a:ext cx="646545" cy="895493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更新</a:t>
            </a:r>
            <a:endParaRPr lang="en-MY" dirty="0"/>
          </a:p>
        </p:txBody>
      </p:sp>
      <p:sp>
        <p:nvSpPr>
          <p:cNvPr id="23" name="矢印: 下 22">
            <a:extLst>
              <a:ext uri="{FF2B5EF4-FFF2-40B4-BE49-F238E27FC236}">
                <a16:creationId xmlns:a16="http://schemas.microsoft.com/office/drawing/2014/main" id="{F93D4201-6777-B611-5F8F-392FED0F2D21}"/>
              </a:ext>
            </a:extLst>
          </p:cNvPr>
          <p:cNvSpPr/>
          <p:nvPr/>
        </p:nvSpPr>
        <p:spPr>
          <a:xfrm>
            <a:off x="3317937" y="4226895"/>
            <a:ext cx="646545" cy="1453469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参照</a:t>
            </a:r>
            <a:endParaRPr lang="en-MY" dirty="0"/>
          </a:p>
        </p:txBody>
      </p:sp>
      <p:sp>
        <p:nvSpPr>
          <p:cNvPr id="24" name="矢印: 下 23">
            <a:extLst>
              <a:ext uri="{FF2B5EF4-FFF2-40B4-BE49-F238E27FC236}">
                <a16:creationId xmlns:a16="http://schemas.microsoft.com/office/drawing/2014/main" id="{FAA26649-2414-BAA4-F9CF-46E735159720}"/>
              </a:ext>
            </a:extLst>
          </p:cNvPr>
          <p:cNvSpPr/>
          <p:nvPr/>
        </p:nvSpPr>
        <p:spPr>
          <a:xfrm>
            <a:off x="7785993" y="3021019"/>
            <a:ext cx="646545" cy="2576363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参照</a:t>
            </a:r>
            <a:endParaRPr lang="en-MY" dirty="0"/>
          </a:p>
        </p:txBody>
      </p:sp>
      <p:sp>
        <p:nvSpPr>
          <p:cNvPr id="25" name="矢印: 下 24">
            <a:extLst>
              <a:ext uri="{FF2B5EF4-FFF2-40B4-BE49-F238E27FC236}">
                <a16:creationId xmlns:a16="http://schemas.microsoft.com/office/drawing/2014/main" id="{20D7F7BD-4122-84F4-346C-D822F6FB4729}"/>
              </a:ext>
            </a:extLst>
          </p:cNvPr>
          <p:cNvSpPr/>
          <p:nvPr/>
        </p:nvSpPr>
        <p:spPr>
          <a:xfrm rot="1984628">
            <a:off x="6563788" y="2823594"/>
            <a:ext cx="646545" cy="317879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参照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44371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F45DD4-4291-C1C3-2BF3-23F33900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infra </a:t>
            </a:r>
            <a:r>
              <a:rPr lang="en-MY" dirty="0" err="1"/>
              <a:t>gameContext</a:t>
            </a:r>
            <a:endParaRPr lang="en-MY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A05A952-EF87-2D5D-8628-D616759A2519}"/>
              </a:ext>
            </a:extLst>
          </p:cNvPr>
          <p:cNvSpPr/>
          <p:nvPr/>
        </p:nvSpPr>
        <p:spPr>
          <a:xfrm>
            <a:off x="1134128" y="4140200"/>
            <a:ext cx="4278382" cy="8243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CellBoard</a:t>
            </a:r>
            <a:endParaRPr lang="en-US" altLang="ja-JP" dirty="0"/>
          </a:p>
          <a:p>
            <a:pPr algn="ctr"/>
            <a:r>
              <a:rPr lang="ja-JP" altLang="en-US" dirty="0"/>
              <a:t>セルがタテヨコに並んだゲームの盤</a:t>
            </a:r>
            <a:endParaRPr lang="en-US" altLang="ja-JP" dirty="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17269207-16C0-F48A-3CAB-0818DA77A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170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dirty="0" err="1"/>
              <a:t>gameContext</a:t>
            </a:r>
            <a:r>
              <a:rPr lang="ja-JP" altLang="en-US" dirty="0"/>
              <a:t>はゲームコントロール関係のクラスにいちプレイヤーのゲームの情報を渡すためのもの</a:t>
            </a:r>
            <a:endParaRPr lang="en-MY" altLang="ja-JP" dirty="0"/>
          </a:p>
          <a:p>
            <a:pPr marL="0" indent="0">
              <a:buNone/>
            </a:pPr>
            <a:r>
              <a:rPr lang="ja-JP" altLang="en-US" dirty="0"/>
              <a:t>つまりゲームの構成要素</a:t>
            </a:r>
            <a:endParaRPr lang="en-MY" altLang="ja-JP" dirty="0"/>
          </a:p>
          <a:p>
            <a:pPr marL="0" indent="0">
              <a:buNone/>
            </a:pPr>
            <a:r>
              <a:rPr lang="en-MY" altLang="ja-JP" dirty="0"/>
              <a:t>Control</a:t>
            </a:r>
            <a:r>
              <a:rPr lang="ja-JP" altLang="en-US" dirty="0"/>
              <a:t>レイヤーや</a:t>
            </a:r>
            <a:r>
              <a:rPr lang="en-MY" altLang="ja-JP" dirty="0" err="1"/>
              <a:t>ViewControl</a:t>
            </a:r>
            <a:r>
              <a:rPr lang="ja-JP" altLang="en-US" dirty="0"/>
              <a:t>レイヤーに渡される</a:t>
            </a:r>
            <a:endParaRPr lang="en-MY" altLang="ja-JP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BEE2733-A142-59DA-A1D4-7D7AC30ADD30}"/>
              </a:ext>
            </a:extLst>
          </p:cNvPr>
          <p:cNvSpPr/>
          <p:nvPr/>
        </p:nvSpPr>
        <p:spPr>
          <a:xfrm>
            <a:off x="5969365" y="4190783"/>
            <a:ext cx="4278382" cy="8243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CurrentMinoManager</a:t>
            </a:r>
            <a:endParaRPr lang="en-US" altLang="ja-JP" dirty="0"/>
          </a:p>
          <a:p>
            <a:pPr algn="ctr"/>
            <a:r>
              <a:rPr lang="ja-JP" altLang="en-US" dirty="0"/>
              <a:t>現在操作可能なミノのステータス</a:t>
            </a:r>
            <a:endParaRPr lang="en-US" altLang="ja-JP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C45A937-0108-345B-3BAE-13A5C36C145E}"/>
              </a:ext>
            </a:extLst>
          </p:cNvPr>
          <p:cNvSpPr/>
          <p:nvPr/>
        </p:nvSpPr>
        <p:spPr>
          <a:xfrm>
            <a:off x="1030218" y="5285076"/>
            <a:ext cx="2865218" cy="8243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MinoQueueManager</a:t>
            </a:r>
            <a:endParaRPr lang="en-US" altLang="ja-JP" dirty="0"/>
          </a:p>
          <a:p>
            <a:pPr algn="ctr"/>
            <a:r>
              <a:rPr lang="ja-JP" altLang="en-US" dirty="0"/>
              <a:t>ネクスト管理</a:t>
            </a:r>
            <a:endParaRPr lang="en-US" altLang="ja-JP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20A074A-0D1B-F352-225E-4FFEC5409636}"/>
              </a:ext>
            </a:extLst>
          </p:cNvPr>
          <p:cNvSpPr/>
          <p:nvPr/>
        </p:nvSpPr>
        <p:spPr>
          <a:xfrm>
            <a:off x="4246783" y="5285076"/>
            <a:ext cx="2708199" cy="8243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rotationSystem</a:t>
            </a:r>
            <a:endParaRPr lang="en-MY" altLang="ja-JP" dirty="0"/>
          </a:p>
          <a:p>
            <a:pPr algn="ctr"/>
            <a:r>
              <a:rPr lang="ja-JP" altLang="en-US" dirty="0"/>
              <a:t>使用される回転法則</a:t>
            </a:r>
            <a:endParaRPr lang="en-US" altLang="ja-JP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C80EFB2-637A-907C-F047-6DA711FFF9EB}"/>
              </a:ext>
            </a:extLst>
          </p:cNvPr>
          <p:cNvSpPr/>
          <p:nvPr/>
        </p:nvSpPr>
        <p:spPr>
          <a:xfrm>
            <a:off x="7306329" y="5285076"/>
            <a:ext cx="3186181" cy="8243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BoardUpdateState</a:t>
            </a:r>
            <a:endParaRPr lang="en-US" altLang="ja-JP" dirty="0"/>
          </a:p>
          <a:p>
            <a:pPr algn="ctr"/>
            <a:r>
              <a:rPr lang="en-US" altLang="ja-JP" dirty="0" err="1"/>
              <a:t>BoardUpdator</a:t>
            </a:r>
            <a:r>
              <a:rPr lang="ja-JP" altLang="en-US" dirty="0"/>
              <a:t>に用いられる</a:t>
            </a:r>
            <a:br>
              <a:rPr lang="en-MY" altLang="ja-JP" dirty="0"/>
            </a:br>
            <a:r>
              <a:rPr lang="ja-JP" altLang="en-US" dirty="0"/>
              <a:t>ゲームの状態</a:t>
            </a:r>
            <a:endParaRPr lang="en-US" altLang="ja-JP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39E2943-E633-AAF7-5F9A-8A3B3C53757C}"/>
              </a:ext>
            </a:extLst>
          </p:cNvPr>
          <p:cNvSpPr/>
          <p:nvPr/>
        </p:nvSpPr>
        <p:spPr>
          <a:xfrm>
            <a:off x="8832639" y="2392651"/>
            <a:ext cx="3186181" cy="82434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　</a:t>
            </a:r>
            <a:r>
              <a:rPr lang="en-US" altLang="ja-JP" dirty="0" err="1"/>
              <a:t>BoardSize</a:t>
            </a:r>
            <a:endParaRPr lang="en-US" altLang="ja-JP" dirty="0"/>
          </a:p>
          <a:p>
            <a:pPr algn="ctr"/>
            <a:r>
              <a:rPr lang="en-US" altLang="ja-JP" dirty="0" err="1"/>
              <a:t>CellBoard</a:t>
            </a:r>
            <a:r>
              <a:rPr lang="ja-JP" altLang="en-US" dirty="0"/>
              <a:t>のサイズ情報だけを抜き出したもの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0517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067F02-1C78-E8AA-96F6-122C856CD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Infra </a:t>
            </a:r>
            <a:r>
              <a:rPr lang="en-MY" dirty="0" err="1"/>
              <a:t>viewContext</a:t>
            </a:r>
            <a:endParaRPr lang="en-MY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BEFF95-A4D8-691A-F7B2-A335B5D85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ビュー系のクラスに</a:t>
            </a:r>
            <a:r>
              <a:rPr lang="en-MY" altLang="ja-JP" dirty="0" err="1"/>
              <a:t>gameContext</a:t>
            </a:r>
            <a:r>
              <a:rPr lang="ja-JP" altLang="en-US" dirty="0"/>
              <a:t>とビュー関連の情報を渡すためのもの</a:t>
            </a:r>
            <a:endParaRPr lang="en-MY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B4CB7A-0C07-6C54-0257-95D490FEB1C7}"/>
              </a:ext>
            </a:extLst>
          </p:cNvPr>
          <p:cNvSpPr/>
          <p:nvPr/>
        </p:nvSpPr>
        <p:spPr>
          <a:xfrm>
            <a:off x="838200" y="4184073"/>
            <a:ext cx="2161316" cy="828101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/>
              <a:t>gameContext</a:t>
            </a:r>
            <a:endParaRPr lang="en-MY" dirty="0"/>
          </a:p>
          <a:p>
            <a:pPr algn="ctr"/>
            <a:r>
              <a:rPr lang="ja-JP" altLang="en-US" dirty="0"/>
              <a:t>当然必要</a:t>
            </a:r>
            <a:endParaRPr lang="en-MY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16DEFF1-4E91-A1FB-F5FF-FF6E97DD8881}"/>
              </a:ext>
            </a:extLst>
          </p:cNvPr>
          <p:cNvSpPr/>
          <p:nvPr/>
        </p:nvSpPr>
        <p:spPr>
          <a:xfrm>
            <a:off x="3346238" y="4184073"/>
            <a:ext cx="4790998" cy="82434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CellSheetParent</a:t>
            </a:r>
            <a:endParaRPr lang="en-US" altLang="ja-JP" dirty="0"/>
          </a:p>
          <a:p>
            <a:pPr algn="ctr"/>
            <a:r>
              <a:rPr lang="ja-JP" altLang="en-US" dirty="0"/>
              <a:t>用いる</a:t>
            </a:r>
            <a:r>
              <a:rPr lang="en-MY" altLang="ja-JP" dirty="0" err="1"/>
              <a:t>CellSheetParent</a:t>
            </a:r>
            <a:r>
              <a:rPr lang="ja-JP" altLang="en-US" dirty="0"/>
              <a:t>（ゲームスキン）</a:t>
            </a:r>
            <a:endParaRPr lang="en-US" altLang="ja-JP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A5D9A43-F4D3-55E4-E791-AA23B40269D1}"/>
              </a:ext>
            </a:extLst>
          </p:cNvPr>
          <p:cNvSpPr/>
          <p:nvPr/>
        </p:nvSpPr>
        <p:spPr>
          <a:xfrm>
            <a:off x="1568238" y="5238172"/>
            <a:ext cx="4790998" cy="82434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boardContainer</a:t>
            </a:r>
            <a:endParaRPr lang="en-US" altLang="ja-JP" dirty="0"/>
          </a:p>
          <a:p>
            <a:pPr algn="ctr"/>
            <a:r>
              <a:rPr lang="en-MY" altLang="ja-JP" dirty="0" err="1"/>
              <a:t>Phaser.GameObjects.Container</a:t>
            </a:r>
            <a:r>
              <a:rPr lang="ja-JP" altLang="en-US" dirty="0"/>
              <a:t>で、ボード周りのビューを格納する</a:t>
            </a:r>
            <a:endParaRPr lang="en-US" altLang="ja-JP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070972A-E488-CB86-3F35-5CC0D20C6FB6}"/>
              </a:ext>
            </a:extLst>
          </p:cNvPr>
          <p:cNvSpPr/>
          <p:nvPr/>
        </p:nvSpPr>
        <p:spPr>
          <a:xfrm>
            <a:off x="6461019" y="5194517"/>
            <a:ext cx="4790998" cy="824346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getRelativeX</a:t>
            </a:r>
            <a:r>
              <a:rPr lang="en-US" altLang="ja-JP" dirty="0"/>
              <a:t> &amp; Y</a:t>
            </a:r>
          </a:p>
          <a:p>
            <a:pPr algn="ctr"/>
            <a:r>
              <a:rPr lang="en-MY" altLang="ja-JP" dirty="0" err="1"/>
              <a:t>boardContainer</a:t>
            </a:r>
            <a:r>
              <a:rPr lang="ja-JP" altLang="en-US" dirty="0"/>
              <a:t>上の座標を取得する便利関数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60576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23EB8-CC15-75BE-3229-C3B49B7BD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control</a:t>
            </a:r>
            <a:r>
              <a:rPr lang="ja-JP" altLang="en-US" dirty="0"/>
              <a:t>レイヤー</a:t>
            </a:r>
            <a:endParaRPr lang="en-MY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31AF94-7B54-32B2-6C3C-4A9C83D70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811"/>
            <a:ext cx="10515600" cy="1176193"/>
          </a:xfrm>
        </p:spPr>
        <p:txBody>
          <a:bodyPr/>
          <a:lstStyle/>
          <a:p>
            <a:pPr marL="0" indent="0">
              <a:buNone/>
            </a:pPr>
            <a:r>
              <a:rPr lang="en-MY" dirty="0" err="1"/>
              <a:t>gameContext</a:t>
            </a:r>
            <a:r>
              <a:rPr lang="ja-JP" altLang="en-US" dirty="0"/>
              <a:t>を受け取って初期化される</a:t>
            </a:r>
            <a:endParaRPr lang="en-MY" altLang="ja-JP" dirty="0"/>
          </a:p>
          <a:p>
            <a:pPr marL="0" indent="0">
              <a:buNone/>
            </a:pPr>
            <a:endParaRPr lang="en-MY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0648077-2F3C-EED5-8C39-6F0638C5AD3C}"/>
              </a:ext>
            </a:extLst>
          </p:cNvPr>
          <p:cNvSpPr/>
          <p:nvPr/>
        </p:nvSpPr>
        <p:spPr>
          <a:xfrm>
            <a:off x="1320801" y="4498939"/>
            <a:ext cx="4017817" cy="89549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BoardUpdater</a:t>
            </a:r>
            <a:endParaRPr lang="en-MY" altLang="ja-JP" dirty="0"/>
          </a:p>
          <a:p>
            <a:pPr algn="ctr"/>
            <a:r>
              <a:rPr lang="ja-JP" altLang="en-US" dirty="0"/>
              <a:t>毎フレーム、ボードの状態を進める</a:t>
            </a:r>
            <a:endParaRPr lang="en-MY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7110D68-8BC2-29DA-AD21-1D081DE27FBC}"/>
              </a:ext>
            </a:extLst>
          </p:cNvPr>
          <p:cNvSpPr/>
          <p:nvPr/>
        </p:nvSpPr>
        <p:spPr>
          <a:xfrm>
            <a:off x="1320800" y="2850374"/>
            <a:ext cx="4017817" cy="89549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GameController</a:t>
            </a:r>
            <a:endParaRPr lang="en-MY" altLang="ja-JP" dirty="0"/>
          </a:p>
          <a:p>
            <a:pPr algn="ctr"/>
            <a:r>
              <a:rPr lang="ja-JP" altLang="en-US" dirty="0"/>
              <a:t>ゲームの状態を全て管理</a:t>
            </a:r>
            <a:endParaRPr lang="en-MY" altLang="ja-JP" dirty="0"/>
          </a:p>
          <a:p>
            <a:pPr algn="ctr"/>
            <a:r>
              <a:rPr lang="ja-JP" altLang="en-US" dirty="0"/>
              <a:t>ミノの生成やライン消去など</a:t>
            </a:r>
            <a:endParaRPr lang="en-MY" altLang="ja-JP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D5392F1-BE9E-E0B2-EA27-5E4A66D544BD}"/>
              </a:ext>
            </a:extLst>
          </p:cNvPr>
          <p:cNvSpPr/>
          <p:nvPr/>
        </p:nvSpPr>
        <p:spPr>
          <a:xfrm>
            <a:off x="6096000" y="4498938"/>
            <a:ext cx="4017817" cy="89549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BoardUpdate</a:t>
            </a:r>
            <a:r>
              <a:rPr lang="en-US" altLang="ja-JP" dirty="0"/>
              <a:t>Calculator</a:t>
            </a:r>
            <a:endParaRPr lang="en-MY" altLang="ja-JP" dirty="0"/>
          </a:p>
          <a:p>
            <a:pPr algn="ctr"/>
            <a:r>
              <a:rPr lang="ja-JP" altLang="en-US" dirty="0"/>
              <a:t>毎フレーム、ボードの状態を進めたら何が起こるかを計算する</a:t>
            </a:r>
            <a:endParaRPr lang="en-MY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14EAEA9-96D0-33F4-8137-FCDA8F23C8A9}"/>
              </a:ext>
            </a:extLst>
          </p:cNvPr>
          <p:cNvSpPr/>
          <p:nvPr/>
        </p:nvSpPr>
        <p:spPr>
          <a:xfrm>
            <a:off x="3708400" y="5543801"/>
            <a:ext cx="4017817" cy="8954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>
                <a:solidFill>
                  <a:schemeClr val="bg1"/>
                </a:solidFill>
              </a:rPr>
              <a:t>ControlOrder</a:t>
            </a:r>
            <a:endParaRPr lang="en-MY" dirty="0">
              <a:solidFill>
                <a:schemeClr val="bg1"/>
              </a:solidFill>
            </a:endParaRPr>
          </a:p>
          <a:p>
            <a:pPr algn="ctr"/>
            <a:r>
              <a:rPr lang="ja-JP" altLang="en-US" dirty="0">
                <a:solidFill>
                  <a:schemeClr val="bg1"/>
                </a:solidFill>
              </a:rPr>
              <a:t>プレイヤーのフレーム毎の入力</a:t>
            </a:r>
            <a:endParaRPr lang="en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141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8B8360-B897-86F0-F9E0-AB6E9CC7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ja-JP" dirty="0" err="1"/>
              <a:t>boardUpdater</a:t>
            </a:r>
            <a:r>
              <a:rPr lang="ja-JP" altLang="en-US" dirty="0"/>
              <a:t>の流れ</a:t>
            </a:r>
            <a:r>
              <a:rPr lang="en-MY" altLang="ja-JP" dirty="0"/>
              <a:t>1</a:t>
            </a:r>
            <a:endParaRPr lang="en-MY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D09F3B0A-3970-4A4E-7499-3D9CEC96C94E}"/>
              </a:ext>
            </a:extLst>
          </p:cNvPr>
          <p:cNvGrpSpPr/>
          <p:nvPr/>
        </p:nvGrpSpPr>
        <p:grpSpPr>
          <a:xfrm>
            <a:off x="3519055" y="4070387"/>
            <a:ext cx="3121891" cy="2422488"/>
            <a:chOff x="3888509" y="2068945"/>
            <a:chExt cx="3121891" cy="242248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393086FB-AF63-9255-1658-24571A8FD8A1}"/>
                </a:ext>
              </a:extLst>
            </p:cNvPr>
            <p:cNvSpPr/>
            <p:nvPr/>
          </p:nvSpPr>
          <p:spPr>
            <a:xfrm>
              <a:off x="4117471" y="3218943"/>
              <a:ext cx="1544419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CellBoard</a:t>
              </a:r>
              <a:endParaRPr lang="en-US" altLang="ja-JP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0CE66BE5-D187-4047-7D13-F73E2DEACB75}"/>
                </a:ext>
              </a:extLst>
            </p:cNvPr>
            <p:cNvSpPr/>
            <p:nvPr/>
          </p:nvSpPr>
          <p:spPr>
            <a:xfrm>
              <a:off x="4117471" y="2586181"/>
              <a:ext cx="2444962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CurrentMinoManager</a:t>
              </a:r>
              <a:endParaRPr lang="en-US" altLang="ja-JP" dirty="0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3AD9F2A-232F-863B-EF3C-46B6F514ED82}"/>
                </a:ext>
              </a:extLst>
            </p:cNvPr>
            <p:cNvSpPr/>
            <p:nvPr/>
          </p:nvSpPr>
          <p:spPr>
            <a:xfrm>
              <a:off x="4117471" y="3851705"/>
              <a:ext cx="2188653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BoardUpdateState</a:t>
              </a:r>
              <a:endParaRPr lang="en-US" altLang="ja-JP" dirty="0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778713C-0FB2-E8F5-EB46-984542453B44}"/>
                </a:ext>
              </a:extLst>
            </p:cNvPr>
            <p:cNvSpPr/>
            <p:nvPr/>
          </p:nvSpPr>
          <p:spPr>
            <a:xfrm>
              <a:off x="3888509" y="2068945"/>
              <a:ext cx="3121891" cy="24224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dirty="0"/>
                <a:t>ゲームの状態</a:t>
              </a:r>
              <a:endParaRPr lang="en-MY" dirty="0"/>
            </a:p>
          </p:txBody>
        </p: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25F74F9-7D0F-C594-1127-89059E8F807C}"/>
              </a:ext>
            </a:extLst>
          </p:cNvPr>
          <p:cNvSpPr/>
          <p:nvPr/>
        </p:nvSpPr>
        <p:spPr>
          <a:xfrm>
            <a:off x="1685997" y="2584776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BoardUpdater.update</a:t>
            </a:r>
            <a:r>
              <a:rPr lang="en-MY" altLang="ja-JP" dirty="0"/>
              <a:t>()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5784DC6-BFE1-1207-A4CA-7941ADF635C3}"/>
              </a:ext>
            </a:extLst>
          </p:cNvPr>
          <p:cNvSpPr/>
          <p:nvPr/>
        </p:nvSpPr>
        <p:spPr>
          <a:xfrm>
            <a:off x="2318507" y="1377734"/>
            <a:ext cx="1768764" cy="498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>
                <a:solidFill>
                  <a:schemeClr val="bg1"/>
                </a:solidFill>
              </a:rPr>
              <a:t>ControlOrder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C8E20DFE-CC3A-5982-D42D-CC730452FA18}"/>
              </a:ext>
            </a:extLst>
          </p:cNvPr>
          <p:cNvSpPr/>
          <p:nvPr/>
        </p:nvSpPr>
        <p:spPr>
          <a:xfrm>
            <a:off x="2872510" y="1807804"/>
            <a:ext cx="646545" cy="776972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引数</a:t>
            </a:r>
            <a:endParaRPr lang="en-MY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FDD89D1-23C2-6575-0C64-7BA5E15032A5}"/>
              </a:ext>
            </a:extLst>
          </p:cNvPr>
          <p:cNvSpPr/>
          <p:nvPr/>
        </p:nvSpPr>
        <p:spPr>
          <a:xfrm>
            <a:off x="1548569" y="2330776"/>
            <a:ext cx="487123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4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4CB2ABE-98F1-D744-8E61-826E1AEAA698}"/>
              </a:ext>
            </a:extLst>
          </p:cNvPr>
          <p:cNvSpPr/>
          <p:nvPr/>
        </p:nvSpPr>
        <p:spPr>
          <a:xfrm>
            <a:off x="7370979" y="2584776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BoardUpdateCalculator</a:t>
            </a:r>
            <a:endParaRPr lang="en-MY" altLang="ja-JP" dirty="0"/>
          </a:p>
        </p:txBody>
      </p:sp>
    </p:spTree>
    <p:extLst>
      <p:ext uri="{BB962C8B-B14F-4D97-AF65-F5344CB8AC3E}">
        <p14:creationId xmlns:p14="http://schemas.microsoft.com/office/powerpoint/2010/main" val="44965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A0AA-2008-9E3B-31C6-06C90C35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F59E7B-7736-E796-5696-CD7924966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ja-JP" dirty="0" err="1"/>
              <a:t>boardUpdater</a:t>
            </a:r>
            <a:r>
              <a:rPr lang="ja-JP" altLang="en-US" dirty="0"/>
              <a:t>の流れ</a:t>
            </a:r>
            <a:r>
              <a:rPr lang="en-MY" altLang="ja-JP" dirty="0"/>
              <a:t>2</a:t>
            </a:r>
            <a:endParaRPr lang="en-MY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767AE90-A8F9-CBF0-22FA-130C79419391}"/>
              </a:ext>
            </a:extLst>
          </p:cNvPr>
          <p:cNvGrpSpPr/>
          <p:nvPr/>
        </p:nvGrpSpPr>
        <p:grpSpPr>
          <a:xfrm>
            <a:off x="3394362" y="3947502"/>
            <a:ext cx="3121891" cy="2422488"/>
            <a:chOff x="3888509" y="2068945"/>
            <a:chExt cx="3121891" cy="242248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2A9675A-D8BC-CC42-B4BE-95EC678EBC04}"/>
                </a:ext>
              </a:extLst>
            </p:cNvPr>
            <p:cNvSpPr/>
            <p:nvPr/>
          </p:nvSpPr>
          <p:spPr>
            <a:xfrm>
              <a:off x="4117471" y="3218943"/>
              <a:ext cx="1544419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CellBoard</a:t>
              </a:r>
              <a:endParaRPr lang="en-US" altLang="ja-JP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62FB7A00-082E-B869-EBAF-A1DBA0ADF73D}"/>
                </a:ext>
              </a:extLst>
            </p:cNvPr>
            <p:cNvSpPr/>
            <p:nvPr/>
          </p:nvSpPr>
          <p:spPr>
            <a:xfrm>
              <a:off x="4117471" y="2586181"/>
              <a:ext cx="2444962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CurrentMinoManager</a:t>
              </a:r>
              <a:endParaRPr lang="en-US" altLang="ja-JP" dirty="0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650C5E30-6AAE-C3EA-5D89-A327DBB07B30}"/>
                </a:ext>
              </a:extLst>
            </p:cNvPr>
            <p:cNvSpPr/>
            <p:nvPr/>
          </p:nvSpPr>
          <p:spPr>
            <a:xfrm>
              <a:off x="4117471" y="3851705"/>
              <a:ext cx="2188653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BoardUpdateState</a:t>
              </a:r>
              <a:endParaRPr lang="en-US" altLang="ja-JP" dirty="0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1B3F2841-5D87-CB3D-AEA6-7AA36362B57B}"/>
                </a:ext>
              </a:extLst>
            </p:cNvPr>
            <p:cNvSpPr/>
            <p:nvPr/>
          </p:nvSpPr>
          <p:spPr>
            <a:xfrm>
              <a:off x="3888509" y="2068945"/>
              <a:ext cx="3121891" cy="24224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dirty="0"/>
                <a:t>ゲームの状態</a:t>
              </a:r>
              <a:endParaRPr lang="en-MY" dirty="0"/>
            </a:p>
          </p:txBody>
        </p: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6B6BEC0-C573-36DF-F232-ABA22D19A8C2}"/>
              </a:ext>
            </a:extLst>
          </p:cNvPr>
          <p:cNvSpPr/>
          <p:nvPr/>
        </p:nvSpPr>
        <p:spPr>
          <a:xfrm>
            <a:off x="1685997" y="2584776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BoardUpdater.update</a:t>
            </a:r>
            <a:r>
              <a:rPr lang="en-MY" altLang="ja-JP" dirty="0"/>
              <a:t>()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53A7D76B-F33E-F596-5F2C-4C7B3CCFA38A}"/>
              </a:ext>
            </a:extLst>
          </p:cNvPr>
          <p:cNvSpPr/>
          <p:nvPr/>
        </p:nvSpPr>
        <p:spPr>
          <a:xfrm>
            <a:off x="4719781" y="2471577"/>
            <a:ext cx="2651198" cy="704722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引数</a:t>
            </a:r>
            <a:endParaRPr lang="en-MY" dirty="0"/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56871194-1874-F3C4-33BC-9DF9B2834E33}"/>
              </a:ext>
            </a:extLst>
          </p:cNvPr>
          <p:cNvSpPr/>
          <p:nvPr/>
        </p:nvSpPr>
        <p:spPr>
          <a:xfrm rot="16503672">
            <a:off x="5329259" y="3318068"/>
            <a:ext cx="1157995" cy="37372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414AAC2-1413-25BD-2ED6-5E84D3D54EA7}"/>
              </a:ext>
            </a:extLst>
          </p:cNvPr>
          <p:cNvSpPr/>
          <p:nvPr/>
        </p:nvSpPr>
        <p:spPr>
          <a:xfrm>
            <a:off x="2170635" y="1360557"/>
            <a:ext cx="2050293" cy="498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>
                <a:solidFill>
                  <a:schemeClr val="bg1"/>
                </a:solidFill>
              </a:rPr>
              <a:t>ControlOrder</a:t>
            </a:r>
            <a:r>
              <a:rPr lang="en-US" altLang="ja-JP" dirty="0">
                <a:solidFill>
                  <a:schemeClr val="bg1"/>
                </a:solidFill>
              </a:rPr>
              <a:t>Flag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5" name="矢印: 下 14">
            <a:extLst>
              <a:ext uri="{FF2B5EF4-FFF2-40B4-BE49-F238E27FC236}">
                <a16:creationId xmlns:a16="http://schemas.microsoft.com/office/drawing/2014/main" id="{3A9959AD-D8A2-8C8E-D238-413F42F17545}"/>
              </a:ext>
            </a:extLst>
          </p:cNvPr>
          <p:cNvSpPr/>
          <p:nvPr/>
        </p:nvSpPr>
        <p:spPr>
          <a:xfrm>
            <a:off x="2872510" y="1807804"/>
            <a:ext cx="646545" cy="776972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引数</a:t>
            </a:r>
            <a:endParaRPr lang="en-MY" dirty="0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8A84F654-37E3-2C9C-7956-451E07C82534}"/>
              </a:ext>
            </a:extLst>
          </p:cNvPr>
          <p:cNvSpPr/>
          <p:nvPr/>
        </p:nvSpPr>
        <p:spPr>
          <a:xfrm rot="1432652">
            <a:off x="3966594" y="1916705"/>
            <a:ext cx="1913747" cy="5492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8A2B8520-2B3A-D3B6-A593-B585D04DF710}"/>
              </a:ext>
            </a:extLst>
          </p:cNvPr>
          <p:cNvSpPr/>
          <p:nvPr/>
        </p:nvSpPr>
        <p:spPr>
          <a:xfrm>
            <a:off x="7370979" y="2584776"/>
            <a:ext cx="3033785" cy="118645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BoardUpdateCalculator</a:t>
            </a:r>
            <a:endParaRPr lang="en-US" altLang="ja-JP" dirty="0"/>
          </a:p>
          <a:p>
            <a:pPr algn="ctr"/>
            <a:r>
              <a:rPr lang="en-MY" altLang="ja-JP" dirty="0"/>
              <a:t>.calculate()</a:t>
            </a:r>
          </a:p>
          <a:p>
            <a:pPr algn="ctr"/>
            <a:r>
              <a:rPr lang="ja-JP" altLang="en-US" dirty="0"/>
              <a:t>操作を計算して結果を作成</a:t>
            </a:r>
            <a:endParaRPr lang="en-MY" altLang="ja-JP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1FF18B7-5998-B9AC-EE53-704867A6AD62}"/>
              </a:ext>
            </a:extLst>
          </p:cNvPr>
          <p:cNvSpPr/>
          <p:nvPr/>
        </p:nvSpPr>
        <p:spPr>
          <a:xfrm>
            <a:off x="10161202" y="2274177"/>
            <a:ext cx="487123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4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BDB1FDA-45A6-D4DC-5775-785DD3CC7204}"/>
              </a:ext>
            </a:extLst>
          </p:cNvPr>
          <p:cNvSpPr/>
          <p:nvPr/>
        </p:nvSpPr>
        <p:spPr>
          <a:xfrm>
            <a:off x="7767788" y="3635152"/>
            <a:ext cx="2050293" cy="498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>
                <a:solidFill>
                  <a:schemeClr val="bg1"/>
                </a:solidFill>
              </a:rPr>
              <a:t>BoardUpdateDiff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11784893-C14F-1219-5B1F-40E2A451A2DB}"/>
              </a:ext>
            </a:extLst>
          </p:cNvPr>
          <p:cNvSpPr/>
          <p:nvPr/>
        </p:nvSpPr>
        <p:spPr>
          <a:xfrm>
            <a:off x="7860145" y="4464738"/>
            <a:ext cx="3325091" cy="1714582"/>
          </a:xfrm>
          <a:prstGeom prst="wedgeRoundRectCallout">
            <a:avLst>
              <a:gd name="adj1" fmla="val -16568"/>
              <a:gd name="adj2" fmla="val -7073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en-US" dirty="0"/>
              <a:t>操作の結果</a:t>
            </a:r>
            <a:endParaRPr lang="en-MY" altLang="ja-JP" dirty="0"/>
          </a:p>
          <a:p>
            <a:r>
              <a:rPr lang="ja-JP" altLang="en-US" dirty="0"/>
              <a:t>・ミノの移動量・回転量</a:t>
            </a:r>
            <a:endParaRPr lang="en-MY" altLang="ja-JP" dirty="0"/>
          </a:p>
          <a:p>
            <a:r>
              <a:rPr lang="ja-JP" altLang="en-US" dirty="0"/>
              <a:t>・ハードドロップ</a:t>
            </a:r>
            <a:endParaRPr lang="en-MY" altLang="ja-JP" dirty="0"/>
          </a:p>
          <a:p>
            <a:r>
              <a:rPr lang="ja-JP" altLang="en-US" dirty="0"/>
              <a:t>など</a:t>
            </a:r>
            <a:endParaRPr lang="en-MY" altLang="ja-JP" dirty="0"/>
          </a:p>
        </p:txBody>
      </p:sp>
    </p:spTree>
    <p:extLst>
      <p:ext uri="{BB962C8B-B14F-4D97-AF65-F5344CB8AC3E}">
        <p14:creationId xmlns:p14="http://schemas.microsoft.com/office/powerpoint/2010/main" val="1181472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1EFFC-493B-FFAC-7B25-BD312202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79322E-79C1-B2AE-5CBA-3506E7CD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ja-JP" dirty="0" err="1"/>
              <a:t>boardUpdater</a:t>
            </a:r>
            <a:r>
              <a:rPr lang="ja-JP" altLang="en-US" dirty="0"/>
              <a:t>の流れ</a:t>
            </a:r>
            <a:r>
              <a:rPr lang="en-MY" altLang="ja-JP" dirty="0"/>
              <a:t>3</a:t>
            </a:r>
            <a:endParaRPr lang="en-MY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CFC2A60-B975-D689-E63A-07A51FD9D78B}"/>
              </a:ext>
            </a:extLst>
          </p:cNvPr>
          <p:cNvGrpSpPr/>
          <p:nvPr/>
        </p:nvGrpSpPr>
        <p:grpSpPr>
          <a:xfrm>
            <a:off x="3394362" y="3947502"/>
            <a:ext cx="3121891" cy="2422488"/>
            <a:chOff x="3888509" y="2068945"/>
            <a:chExt cx="3121891" cy="242248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9EE3D92-A385-8734-0D7D-00B1D9A1329E}"/>
                </a:ext>
              </a:extLst>
            </p:cNvPr>
            <p:cNvSpPr/>
            <p:nvPr/>
          </p:nvSpPr>
          <p:spPr>
            <a:xfrm>
              <a:off x="4117471" y="3218943"/>
              <a:ext cx="1544419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CellBoard</a:t>
              </a:r>
              <a:endParaRPr lang="en-US" altLang="ja-JP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5C2F4CCA-9F40-41A0-3FE6-8B4594B1C0C4}"/>
                </a:ext>
              </a:extLst>
            </p:cNvPr>
            <p:cNvSpPr/>
            <p:nvPr/>
          </p:nvSpPr>
          <p:spPr>
            <a:xfrm>
              <a:off x="4117471" y="2586181"/>
              <a:ext cx="2444962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CurrentMinoManager</a:t>
              </a:r>
              <a:endParaRPr lang="en-US" altLang="ja-JP" dirty="0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78838812-FD93-381F-EDF9-CD7898E16170}"/>
                </a:ext>
              </a:extLst>
            </p:cNvPr>
            <p:cNvSpPr/>
            <p:nvPr/>
          </p:nvSpPr>
          <p:spPr>
            <a:xfrm>
              <a:off x="4117471" y="3851705"/>
              <a:ext cx="2188653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BoardUpdateState</a:t>
              </a:r>
              <a:endParaRPr lang="en-US" altLang="ja-JP" dirty="0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EF22866-559C-1F73-EBD6-47B41B24E4D2}"/>
                </a:ext>
              </a:extLst>
            </p:cNvPr>
            <p:cNvSpPr/>
            <p:nvPr/>
          </p:nvSpPr>
          <p:spPr>
            <a:xfrm>
              <a:off x="3888509" y="2068945"/>
              <a:ext cx="3121891" cy="24224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dirty="0"/>
                <a:t>ゲームの状態</a:t>
              </a:r>
              <a:endParaRPr lang="en-MY" dirty="0"/>
            </a:p>
          </p:txBody>
        </p: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114FB64-A613-E80F-15A4-CBDACD8435FB}"/>
              </a:ext>
            </a:extLst>
          </p:cNvPr>
          <p:cNvSpPr/>
          <p:nvPr/>
        </p:nvSpPr>
        <p:spPr>
          <a:xfrm>
            <a:off x="1685997" y="2584776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BoardUpdater.update</a:t>
            </a:r>
            <a:r>
              <a:rPr lang="en-MY" altLang="ja-JP" dirty="0"/>
              <a:t>()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523280B-C78C-7E53-670C-63D618FEA463}"/>
              </a:ext>
            </a:extLst>
          </p:cNvPr>
          <p:cNvSpPr/>
          <p:nvPr/>
        </p:nvSpPr>
        <p:spPr>
          <a:xfrm>
            <a:off x="2170635" y="1360557"/>
            <a:ext cx="2050293" cy="498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>
                <a:solidFill>
                  <a:schemeClr val="bg1"/>
                </a:solidFill>
              </a:rPr>
              <a:t>ControlOrder</a:t>
            </a:r>
            <a:r>
              <a:rPr lang="en-US" altLang="ja-JP" dirty="0">
                <a:solidFill>
                  <a:schemeClr val="bg1"/>
                </a:solidFill>
              </a:rPr>
              <a:t>Flag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5" name="矢印: 下 14">
            <a:extLst>
              <a:ext uri="{FF2B5EF4-FFF2-40B4-BE49-F238E27FC236}">
                <a16:creationId xmlns:a16="http://schemas.microsoft.com/office/drawing/2014/main" id="{14A4B6E2-9CCB-ABD0-53E8-2953651D7E1A}"/>
              </a:ext>
            </a:extLst>
          </p:cNvPr>
          <p:cNvSpPr/>
          <p:nvPr/>
        </p:nvSpPr>
        <p:spPr>
          <a:xfrm>
            <a:off x="2872510" y="1807804"/>
            <a:ext cx="646545" cy="776972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引数</a:t>
            </a:r>
            <a:endParaRPr lang="en-MY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17C764A-A248-0763-FCCE-6B858A1BA924}"/>
              </a:ext>
            </a:extLst>
          </p:cNvPr>
          <p:cNvSpPr/>
          <p:nvPr/>
        </p:nvSpPr>
        <p:spPr>
          <a:xfrm>
            <a:off x="7370979" y="2584776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BoardUpdateCalculator</a:t>
            </a:r>
            <a:endParaRPr lang="en-US" altLang="ja-JP" dirty="0"/>
          </a:p>
          <a:p>
            <a:pPr algn="ctr"/>
            <a:r>
              <a:rPr lang="en-MY" altLang="ja-JP" dirty="0"/>
              <a:t>.calculate()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705D9AF6-A92A-9FB3-6D37-95527F9F40A6}"/>
              </a:ext>
            </a:extLst>
          </p:cNvPr>
          <p:cNvSpPr/>
          <p:nvPr/>
        </p:nvSpPr>
        <p:spPr>
          <a:xfrm>
            <a:off x="5314696" y="2140040"/>
            <a:ext cx="487123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4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FDBB098C-EA88-CC56-115A-777FF65F5661}"/>
              </a:ext>
            </a:extLst>
          </p:cNvPr>
          <p:cNvSpPr/>
          <p:nvPr/>
        </p:nvSpPr>
        <p:spPr>
          <a:xfrm flipH="1">
            <a:off x="4535054" y="2540797"/>
            <a:ext cx="2937166" cy="682481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返り値</a:t>
            </a:r>
            <a:endParaRPr lang="en-MY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69B6A49-F23F-1E7D-CD5F-F2A473BE1A6F}"/>
              </a:ext>
            </a:extLst>
          </p:cNvPr>
          <p:cNvSpPr/>
          <p:nvPr/>
        </p:nvSpPr>
        <p:spPr>
          <a:xfrm>
            <a:off x="4978490" y="3048797"/>
            <a:ext cx="2050293" cy="498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>
                <a:solidFill>
                  <a:schemeClr val="bg1"/>
                </a:solidFill>
              </a:rPr>
              <a:t>BoardUpdateDiff</a:t>
            </a:r>
            <a:endParaRPr lang="en-M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947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5B20-9523-F7FB-0679-F7C361235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EE8F2-4C1C-47AA-2BF2-52F335D5F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ja-JP" dirty="0" err="1"/>
              <a:t>boardUpdater</a:t>
            </a:r>
            <a:r>
              <a:rPr lang="ja-JP" altLang="en-US" dirty="0"/>
              <a:t>の流れ</a:t>
            </a:r>
            <a:r>
              <a:rPr lang="en-MY" altLang="ja-JP" dirty="0"/>
              <a:t>4</a:t>
            </a:r>
            <a:endParaRPr lang="en-MY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8F60BAA6-8BE6-2437-4E09-263C087E3D47}"/>
              </a:ext>
            </a:extLst>
          </p:cNvPr>
          <p:cNvGrpSpPr/>
          <p:nvPr/>
        </p:nvGrpSpPr>
        <p:grpSpPr>
          <a:xfrm>
            <a:off x="5911274" y="4070387"/>
            <a:ext cx="3121891" cy="2422488"/>
            <a:chOff x="3888509" y="2068945"/>
            <a:chExt cx="3121891" cy="242248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2F4F8468-BFB1-386D-FB4E-AC715CC15583}"/>
                </a:ext>
              </a:extLst>
            </p:cNvPr>
            <p:cNvSpPr/>
            <p:nvPr/>
          </p:nvSpPr>
          <p:spPr>
            <a:xfrm>
              <a:off x="4117471" y="3218943"/>
              <a:ext cx="1544419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CellBoard</a:t>
              </a:r>
              <a:endParaRPr lang="en-US" altLang="ja-JP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305886-AD6F-4C9E-AF9E-17AB7B9A4C04}"/>
                </a:ext>
              </a:extLst>
            </p:cNvPr>
            <p:cNvSpPr/>
            <p:nvPr/>
          </p:nvSpPr>
          <p:spPr>
            <a:xfrm>
              <a:off x="4117471" y="2586181"/>
              <a:ext cx="2444962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CurrentMinoManager</a:t>
              </a:r>
              <a:endParaRPr lang="en-US" altLang="ja-JP" dirty="0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070C8F82-CCDD-AFD0-CBDB-8A56FA72EC27}"/>
                </a:ext>
              </a:extLst>
            </p:cNvPr>
            <p:cNvSpPr/>
            <p:nvPr/>
          </p:nvSpPr>
          <p:spPr>
            <a:xfrm>
              <a:off x="4117471" y="3851705"/>
              <a:ext cx="2188653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BoardUpdateState</a:t>
              </a:r>
              <a:endParaRPr lang="en-US" altLang="ja-JP" dirty="0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50D9857D-7B60-F085-279D-DB0074F9A84D}"/>
                </a:ext>
              </a:extLst>
            </p:cNvPr>
            <p:cNvSpPr/>
            <p:nvPr/>
          </p:nvSpPr>
          <p:spPr>
            <a:xfrm>
              <a:off x="3888509" y="2068945"/>
              <a:ext cx="3121891" cy="24224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dirty="0"/>
                <a:t>ゲームの状態</a:t>
              </a:r>
              <a:endParaRPr lang="en-MY" dirty="0"/>
            </a:p>
          </p:txBody>
        </p: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11BB54D-6F51-ED4D-EBC5-4FB843FD123D}"/>
              </a:ext>
            </a:extLst>
          </p:cNvPr>
          <p:cNvSpPr/>
          <p:nvPr/>
        </p:nvSpPr>
        <p:spPr>
          <a:xfrm>
            <a:off x="1685997" y="2584776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BoardUpdater.update</a:t>
            </a:r>
            <a:r>
              <a:rPr lang="en-MY" altLang="ja-JP" dirty="0"/>
              <a:t>()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6625823-AAB3-4FAB-6574-18DDD6BCB34B}"/>
              </a:ext>
            </a:extLst>
          </p:cNvPr>
          <p:cNvSpPr/>
          <p:nvPr/>
        </p:nvSpPr>
        <p:spPr>
          <a:xfrm>
            <a:off x="2170635" y="1360557"/>
            <a:ext cx="2050293" cy="498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>
                <a:solidFill>
                  <a:schemeClr val="bg1"/>
                </a:solidFill>
              </a:rPr>
              <a:t>ControlOrder</a:t>
            </a:r>
            <a:r>
              <a:rPr lang="en-US" altLang="ja-JP" dirty="0">
                <a:solidFill>
                  <a:schemeClr val="bg1"/>
                </a:solidFill>
              </a:rPr>
              <a:t>Flag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5" name="矢印: 下 14">
            <a:extLst>
              <a:ext uri="{FF2B5EF4-FFF2-40B4-BE49-F238E27FC236}">
                <a16:creationId xmlns:a16="http://schemas.microsoft.com/office/drawing/2014/main" id="{24EE1672-C56B-CF52-178D-16E7CB3572FF}"/>
              </a:ext>
            </a:extLst>
          </p:cNvPr>
          <p:cNvSpPr/>
          <p:nvPr/>
        </p:nvSpPr>
        <p:spPr>
          <a:xfrm>
            <a:off x="2879616" y="3149925"/>
            <a:ext cx="646545" cy="776972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引数</a:t>
            </a:r>
            <a:endParaRPr lang="en-MY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B24C113-968A-7091-D056-7B4506584612}"/>
              </a:ext>
            </a:extLst>
          </p:cNvPr>
          <p:cNvSpPr/>
          <p:nvPr/>
        </p:nvSpPr>
        <p:spPr>
          <a:xfrm>
            <a:off x="7370979" y="2584776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BoardUpdateCalculator</a:t>
            </a:r>
            <a:endParaRPr lang="en-US" altLang="ja-JP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B189C822-B32B-6EFF-8FE0-5F7B9E945408}"/>
              </a:ext>
            </a:extLst>
          </p:cNvPr>
          <p:cNvSpPr/>
          <p:nvPr/>
        </p:nvSpPr>
        <p:spPr>
          <a:xfrm>
            <a:off x="2360344" y="3262763"/>
            <a:ext cx="487123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4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2BA3144-F5AE-625B-958D-264B6FB4038E}"/>
              </a:ext>
            </a:extLst>
          </p:cNvPr>
          <p:cNvSpPr/>
          <p:nvPr/>
        </p:nvSpPr>
        <p:spPr>
          <a:xfrm>
            <a:off x="1547451" y="3900523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BoardUpdater</a:t>
            </a:r>
            <a:r>
              <a:rPr lang="en-MY" altLang="ja-JP" dirty="0"/>
              <a:t>.#applyDiff()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FAEBAC5-701B-19E5-C596-9D15973D4125}"/>
              </a:ext>
            </a:extLst>
          </p:cNvPr>
          <p:cNvSpPr/>
          <p:nvPr/>
        </p:nvSpPr>
        <p:spPr>
          <a:xfrm>
            <a:off x="3509907" y="3262763"/>
            <a:ext cx="2050293" cy="498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>
                <a:solidFill>
                  <a:schemeClr val="bg1"/>
                </a:solidFill>
              </a:rPr>
              <a:t>BoardUpdateDiff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0936272E-95B2-A2C2-01DA-825438DAACC3}"/>
              </a:ext>
            </a:extLst>
          </p:cNvPr>
          <p:cNvSpPr/>
          <p:nvPr/>
        </p:nvSpPr>
        <p:spPr>
          <a:xfrm rot="1436135">
            <a:off x="3911188" y="4510801"/>
            <a:ext cx="2188653" cy="133371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/>
              <a:t>diff</a:t>
            </a:r>
            <a:r>
              <a:rPr lang="ja-JP" altLang="en-US" dirty="0"/>
              <a:t>に従って</a:t>
            </a:r>
            <a:endParaRPr lang="en-MY" altLang="ja-JP" dirty="0"/>
          </a:p>
          <a:p>
            <a:pPr algn="ctr"/>
            <a:r>
              <a:rPr lang="ja-JP" altLang="en-US" dirty="0"/>
              <a:t>状態を更新</a:t>
            </a:r>
            <a:endParaRPr lang="en-MY" dirty="0"/>
          </a:p>
        </p:txBody>
      </p:sp>
      <p:sp>
        <p:nvSpPr>
          <p:cNvPr id="17" name="矢印: 下 16">
            <a:extLst>
              <a:ext uri="{FF2B5EF4-FFF2-40B4-BE49-F238E27FC236}">
                <a16:creationId xmlns:a16="http://schemas.microsoft.com/office/drawing/2014/main" id="{26A6D3DB-0E0A-7351-2FB4-C94D5AC60CC0}"/>
              </a:ext>
            </a:extLst>
          </p:cNvPr>
          <p:cNvSpPr/>
          <p:nvPr/>
        </p:nvSpPr>
        <p:spPr>
          <a:xfrm>
            <a:off x="2872510" y="1807804"/>
            <a:ext cx="646545" cy="776972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引数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90563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035C-7198-5AB7-2855-8DC07B089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7F57C5-D84C-8049-E86A-6CEA0E0E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altLang="ja-JP" dirty="0" err="1"/>
              <a:t>boardUpdater</a:t>
            </a:r>
            <a:r>
              <a:rPr lang="ja-JP" altLang="en-US" dirty="0"/>
              <a:t>の流れ</a:t>
            </a:r>
            <a:r>
              <a:rPr lang="en-MY" altLang="ja-JP" dirty="0"/>
              <a:t>5</a:t>
            </a:r>
            <a:endParaRPr lang="en-MY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253D0E8-E54C-8962-6643-EB20FA8AF332}"/>
              </a:ext>
            </a:extLst>
          </p:cNvPr>
          <p:cNvGrpSpPr/>
          <p:nvPr/>
        </p:nvGrpSpPr>
        <p:grpSpPr>
          <a:xfrm>
            <a:off x="5911274" y="4070387"/>
            <a:ext cx="3121891" cy="2422488"/>
            <a:chOff x="3888509" y="2068945"/>
            <a:chExt cx="3121891" cy="2422488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D8DC6BCF-1A5E-AAD8-1A46-F67866170A32}"/>
                </a:ext>
              </a:extLst>
            </p:cNvPr>
            <p:cNvSpPr/>
            <p:nvPr/>
          </p:nvSpPr>
          <p:spPr>
            <a:xfrm>
              <a:off x="4117471" y="3218943"/>
              <a:ext cx="1544419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CellBoard</a:t>
              </a:r>
              <a:endParaRPr lang="en-US" altLang="ja-JP" dirty="0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40D5DD20-3DFA-D336-19E3-A7748A1C908E}"/>
                </a:ext>
              </a:extLst>
            </p:cNvPr>
            <p:cNvSpPr/>
            <p:nvPr/>
          </p:nvSpPr>
          <p:spPr>
            <a:xfrm>
              <a:off x="4117471" y="2586181"/>
              <a:ext cx="2444962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CurrentMinoManager</a:t>
              </a:r>
              <a:endParaRPr lang="en-US" altLang="ja-JP" dirty="0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3F10191-B24C-9FBA-88E9-DE9FC1A6AF6C}"/>
                </a:ext>
              </a:extLst>
            </p:cNvPr>
            <p:cNvSpPr/>
            <p:nvPr/>
          </p:nvSpPr>
          <p:spPr>
            <a:xfrm>
              <a:off x="4117471" y="3851705"/>
              <a:ext cx="2188653" cy="49854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 err="1"/>
                <a:t>BoardUpdateState</a:t>
              </a:r>
              <a:endParaRPr lang="en-US" altLang="ja-JP" dirty="0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02F0DB6E-E972-FCFA-A8CE-4AF226E9131F}"/>
                </a:ext>
              </a:extLst>
            </p:cNvPr>
            <p:cNvSpPr/>
            <p:nvPr/>
          </p:nvSpPr>
          <p:spPr>
            <a:xfrm>
              <a:off x="3888509" y="2068945"/>
              <a:ext cx="3121891" cy="24224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ja-JP" altLang="en-US" dirty="0"/>
                <a:t>更新されたゲームの状態</a:t>
              </a:r>
              <a:endParaRPr lang="en-MY" dirty="0"/>
            </a:p>
          </p:txBody>
        </p:sp>
      </p:grp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5D13C94-09E2-340D-F13A-E044A7C96225}"/>
              </a:ext>
            </a:extLst>
          </p:cNvPr>
          <p:cNvSpPr/>
          <p:nvPr/>
        </p:nvSpPr>
        <p:spPr>
          <a:xfrm>
            <a:off x="1685997" y="2584776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altLang="ja-JP" dirty="0" err="1"/>
              <a:t>BoardUpdater.update</a:t>
            </a:r>
            <a:r>
              <a:rPr lang="en-MY" altLang="ja-JP" dirty="0"/>
              <a:t>()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C1F5F8B-B901-695C-D677-C1326AC48172}"/>
              </a:ext>
            </a:extLst>
          </p:cNvPr>
          <p:cNvSpPr/>
          <p:nvPr/>
        </p:nvSpPr>
        <p:spPr>
          <a:xfrm>
            <a:off x="7370979" y="2584776"/>
            <a:ext cx="3033785" cy="5915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BoardUpdateCalculator</a:t>
            </a:r>
            <a:endParaRPr lang="en-US" altLang="ja-JP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C0B1543B-A7E1-D79E-047C-916B6A2B37F4}"/>
              </a:ext>
            </a:extLst>
          </p:cNvPr>
          <p:cNvSpPr/>
          <p:nvPr/>
        </p:nvSpPr>
        <p:spPr>
          <a:xfrm>
            <a:off x="2390231" y="1995038"/>
            <a:ext cx="487123" cy="5080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97F2F1D-2A4E-F0DC-F5E4-3C600BF7AD4C}"/>
              </a:ext>
            </a:extLst>
          </p:cNvPr>
          <p:cNvSpPr/>
          <p:nvPr/>
        </p:nvSpPr>
        <p:spPr>
          <a:xfrm>
            <a:off x="3420123" y="1999765"/>
            <a:ext cx="2050293" cy="4985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err="1">
                <a:solidFill>
                  <a:schemeClr val="bg1"/>
                </a:solidFill>
              </a:rPr>
              <a:t>BoardUpdateDiff</a:t>
            </a:r>
            <a:endParaRPr lang="en-MY" dirty="0">
              <a:solidFill>
                <a:schemeClr val="bg1"/>
              </a:solidFill>
            </a:endParaRPr>
          </a:p>
        </p:txBody>
      </p:sp>
      <p:sp>
        <p:nvSpPr>
          <p:cNvPr id="17" name="矢印: 上 16">
            <a:extLst>
              <a:ext uri="{FF2B5EF4-FFF2-40B4-BE49-F238E27FC236}">
                <a16:creationId xmlns:a16="http://schemas.microsoft.com/office/drawing/2014/main" id="{ADC73EE2-EAC4-E31E-BFC8-EC51C57AC7E3}"/>
              </a:ext>
            </a:extLst>
          </p:cNvPr>
          <p:cNvSpPr/>
          <p:nvPr/>
        </p:nvSpPr>
        <p:spPr>
          <a:xfrm>
            <a:off x="2821708" y="1751322"/>
            <a:ext cx="748146" cy="995432"/>
          </a:xfrm>
          <a:prstGeom prst="up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返り値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83342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</TotalTime>
  <Words>416</Words>
  <Application>Microsoft Office PowerPoint</Application>
  <PresentationFormat>ワイド画面</PresentationFormat>
  <Paragraphs>138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Teresourceを理解するDoc</vt:lpstr>
      <vt:lpstr>テリソスが依存するライブラリ</vt:lpstr>
      <vt:lpstr>テリソス全体図</vt:lpstr>
      <vt:lpstr>PlaySceneの構造</vt:lpstr>
      <vt:lpstr>infra gameContext</vt:lpstr>
      <vt:lpstr>Infra viewContext</vt:lpstr>
      <vt:lpstr>controlレイヤー</vt:lpstr>
      <vt:lpstr>boardUpdaterの流れ1</vt:lpstr>
      <vt:lpstr>boardUpdaterの流れ2</vt:lpstr>
      <vt:lpstr>boardUpdaterの流れ3</vt:lpstr>
      <vt:lpstr>boardUpdaterの流れ4</vt:lpstr>
      <vt:lpstr>boardUpdaterの流れ5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 英明_2J07_東京</dc:creator>
  <cp:lastModifiedBy>伊藤 英明_2J07_東京</cp:lastModifiedBy>
  <cp:revision>1</cp:revision>
  <dcterms:created xsi:type="dcterms:W3CDTF">2025-12-30T12:00:42Z</dcterms:created>
  <dcterms:modified xsi:type="dcterms:W3CDTF">2025-12-30T13:02:38Z</dcterms:modified>
</cp:coreProperties>
</file>